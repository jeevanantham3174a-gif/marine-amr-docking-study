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2D4DC-D7F3-47DB-FA20-8B8EF41122E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D6EFD19-3992-F37D-E122-A51DC45C64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D44F56E-AC78-97DA-1A31-6DA33217B077}"/>
              </a:ext>
            </a:extLst>
          </p:cNvPr>
          <p:cNvSpPr>
            <a:spLocks noGrp="1"/>
          </p:cNvSpPr>
          <p:nvPr>
            <p:ph type="dt" sz="half" idx="10"/>
          </p:nvPr>
        </p:nvSpPr>
        <p:spPr/>
        <p:txBody>
          <a:bodyPr/>
          <a:lstStyle/>
          <a:p>
            <a:fld id="{C3C99B3C-EB6B-4C33-849C-ED8017B87F5A}" type="datetimeFigureOut">
              <a:rPr lang="en-IN" smtClean="0"/>
              <a:t>21-04-2026</a:t>
            </a:fld>
            <a:endParaRPr lang="en-IN"/>
          </a:p>
        </p:txBody>
      </p:sp>
      <p:sp>
        <p:nvSpPr>
          <p:cNvPr id="5" name="Footer Placeholder 4">
            <a:extLst>
              <a:ext uri="{FF2B5EF4-FFF2-40B4-BE49-F238E27FC236}">
                <a16:creationId xmlns:a16="http://schemas.microsoft.com/office/drawing/2014/main" id="{6DC1A8DA-9178-DDD3-3BC3-4E5ED46386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6862AD-4648-D773-8220-BF9ADB0D9E3F}"/>
              </a:ext>
            </a:extLst>
          </p:cNvPr>
          <p:cNvSpPr>
            <a:spLocks noGrp="1"/>
          </p:cNvSpPr>
          <p:nvPr>
            <p:ph type="sldNum" sz="quarter" idx="12"/>
          </p:nvPr>
        </p:nvSpPr>
        <p:spPr/>
        <p:txBody>
          <a:bodyPr/>
          <a:lstStyle/>
          <a:p>
            <a:fld id="{3B73585C-91FE-4F31-B607-B599F43326E3}" type="slidenum">
              <a:rPr lang="en-IN" smtClean="0"/>
              <a:t>‹#›</a:t>
            </a:fld>
            <a:endParaRPr lang="en-IN"/>
          </a:p>
        </p:txBody>
      </p:sp>
    </p:spTree>
    <p:extLst>
      <p:ext uri="{BB962C8B-B14F-4D97-AF65-F5344CB8AC3E}">
        <p14:creationId xmlns:p14="http://schemas.microsoft.com/office/powerpoint/2010/main" val="18704469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5317F-CF1D-6BBE-5E91-E2C76FCCBA8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0005BA5-25F3-72C9-573C-221E08B6FE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347557-D7C4-1CFD-2404-13A04D62418D}"/>
              </a:ext>
            </a:extLst>
          </p:cNvPr>
          <p:cNvSpPr>
            <a:spLocks noGrp="1"/>
          </p:cNvSpPr>
          <p:nvPr>
            <p:ph type="dt" sz="half" idx="10"/>
          </p:nvPr>
        </p:nvSpPr>
        <p:spPr/>
        <p:txBody>
          <a:bodyPr/>
          <a:lstStyle/>
          <a:p>
            <a:fld id="{C3C99B3C-EB6B-4C33-849C-ED8017B87F5A}" type="datetimeFigureOut">
              <a:rPr lang="en-IN" smtClean="0"/>
              <a:t>21-04-2026</a:t>
            </a:fld>
            <a:endParaRPr lang="en-IN"/>
          </a:p>
        </p:txBody>
      </p:sp>
      <p:sp>
        <p:nvSpPr>
          <p:cNvPr id="5" name="Footer Placeholder 4">
            <a:extLst>
              <a:ext uri="{FF2B5EF4-FFF2-40B4-BE49-F238E27FC236}">
                <a16:creationId xmlns:a16="http://schemas.microsoft.com/office/drawing/2014/main" id="{85BBE57B-8028-8477-ED2F-D870650B3C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1FED04-00D2-FDB9-029F-CF90EEEC84FA}"/>
              </a:ext>
            </a:extLst>
          </p:cNvPr>
          <p:cNvSpPr>
            <a:spLocks noGrp="1"/>
          </p:cNvSpPr>
          <p:nvPr>
            <p:ph type="sldNum" sz="quarter" idx="12"/>
          </p:nvPr>
        </p:nvSpPr>
        <p:spPr/>
        <p:txBody>
          <a:bodyPr/>
          <a:lstStyle/>
          <a:p>
            <a:fld id="{3B73585C-91FE-4F31-B607-B599F43326E3}" type="slidenum">
              <a:rPr lang="en-IN" smtClean="0"/>
              <a:t>‹#›</a:t>
            </a:fld>
            <a:endParaRPr lang="en-IN"/>
          </a:p>
        </p:txBody>
      </p:sp>
    </p:spTree>
    <p:extLst>
      <p:ext uri="{BB962C8B-B14F-4D97-AF65-F5344CB8AC3E}">
        <p14:creationId xmlns:p14="http://schemas.microsoft.com/office/powerpoint/2010/main" val="3421816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D177D-80C1-2E5C-FC8C-4D0C6DCBDD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88299DA-D57B-B3A4-1A02-B6D5069C95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B852CC-3ABA-87CC-AE5A-9585E0D890D2}"/>
              </a:ext>
            </a:extLst>
          </p:cNvPr>
          <p:cNvSpPr>
            <a:spLocks noGrp="1"/>
          </p:cNvSpPr>
          <p:nvPr>
            <p:ph type="dt" sz="half" idx="10"/>
          </p:nvPr>
        </p:nvSpPr>
        <p:spPr/>
        <p:txBody>
          <a:bodyPr/>
          <a:lstStyle/>
          <a:p>
            <a:fld id="{C3C99B3C-EB6B-4C33-849C-ED8017B87F5A}" type="datetimeFigureOut">
              <a:rPr lang="en-IN" smtClean="0"/>
              <a:t>21-04-2026</a:t>
            </a:fld>
            <a:endParaRPr lang="en-IN"/>
          </a:p>
        </p:txBody>
      </p:sp>
      <p:sp>
        <p:nvSpPr>
          <p:cNvPr id="5" name="Footer Placeholder 4">
            <a:extLst>
              <a:ext uri="{FF2B5EF4-FFF2-40B4-BE49-F238E27FC236}">
                <a16:creationId xmlns:a16="http://schemas.microsoft.com/office/drawing/2014/main" id="{B17D976D-A9B9-DC0A-4806-D098D501D8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ABDC98-7172-CF37-C676-2C54214DC010}"/>
              </a:ext>
            </a:extLst>
          </p:cNvPr>
          <p:cNvSpPr>
            <a:spLocks noGrp="1"/>
          </p:cNvSpPr>
          <p:nvPr>
            <p:ph type="sldNum" sz="quarter" idx="12"/>
          </p:nvPr>
        </p:nvSpPr>
        <p:spPr/>
        <p:txBody>
          <a:bodyPr/>
          <a:lstStyle/>
          <a:p>
            <a:fld id="{3B73585C-91FE-4F31-B607-B599F43326E3}" type="slidenum">
              <a:rPr lang="en-IN" smtClean="0"/>
              <a:t>‹#›</a:t>
            </a:fld>
            <a:endParaRPr lang="en-IN"/>
          </a:p>
        </p:txBody>
      </p:sp>
    </p:spTree>
    <p:extLst>
      <p:ext uri="{BB962C8B-B14F-4D97-AF65-F5344CB8AC3E}">
        <p14:creationId xmlns:p14="http://schemas.microsoft.com/office/powerpoint/2010/main" val="13209727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FD30C-CD34-B27A-9CD2-E0CBA2C3018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5602A56-B4B0-664A-7616-A427808943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5F200AD-432B-CB96-7E58-09D1E78E55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7ED7391-F853-32BB-FA54-BF267A5E11CE}"/>
              </a:ext>
            </a:extLst>
          </p:cNvPr>
          <p:cNvSpPr>
            <a:spLocks noGrp="1"/>
          </p:cNvSpPr>
          <p:nvPr>
            <p:ph type="dt" sz="half" idx="10"/>
          </p:nvPr>
        </p:nvSpPr>
        <p:spPr/>
        <p:txBody>
          <a:bodyPr/>
          <a:lstStyle/>
          <a:p>
            <a:fld id="{C3C99B3C-EB6B-4C33-849C-ED8017B87F5A}" type="datetimeFigureOut">
              <a:rPr lang="en-IN" smtClean="0"/>
              <a:t>21-04-2026</a:t>
            </a:fld>
            <a:endParaRPr lang="en-IN"/>
          </a:p>
        </p:txBody>
      </p:sp>
      <p:sp>
        <p:nvSpPr>
          <p:cNvPr id="6" name="Footer Placeholder 5">
            <a:extLst>
              <a:ext uri="{FF2B5EF4-FFF2-40B4-BE49-F238E27FC236}">
                <a16:creationId xmlns:a16="http://schemas.microsoft.com/office/drawing/2014/main" id="{E6E922E4-B76A-677D-23DC-0DDDD400BD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1A1621-30F2-E34D-DDD7-BD0D0DA32A21}"/>
              </a:ext>
            </a:extLst>
          </p:cNvPr>
          <p:cNvSpPr>
            <a:spLocks noGrp="1"/>
          </p:cNvSpPr>
          <p:nvPr>
            <p:ph type="sldNum" sz="quarter" idx="12"/>
          </p:nvPr>
        </p:nvSpPr>
        <p:spPr/>
        <p:txBody>
          <a:bodyPr/>
          <a:lstStyle/>
          <a:p>
            <a:fld id="{3B73585C-91FE-4F31-B607-B599F43326E3}" type="slidenum">
              <a:rPr lang="en-IN" smtClean="0"/>
              <a:t>‹#›</a:t>
            </a:fld>
            <a:endParaRPr lang="en-IN"/>
          </a:p>
        </p:txBody>
      </p:sp>
    </p:spTree>
    <p:extLst>
      <p:ext uri="{BB962C8B-B14F-4D97-AF65-F5344CB8AC3E}">
        <p14:creationId xmlns:p14="http://schemas.microsoft.com/office/powerpoint/2010/main" val="1180410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F5A3D-61B0-DD77-9E29-73D991D713F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BAEB2C3-4411-5043-1381-4BE07788C5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4F42FF-ACD1-D40D-306F-7A10644BC97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9850457-1A8B-E2CB-B0B0-13FEAC4A9D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12FF3F4-5E1F-D418-C39B-B79F72572A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1CBC2A9-BDD9-051C-2ADE-8905A69F8023}"/>
              </a:ext>
            </a:extLst>
          </p:cNvPr>
          <p:cNvSpPr>
            <a:spLocks noGrp="1"/>
          </p:cNvSpPr>
          <p:nvPr>
            <p:ph type="dt" sz="half" idx="10"/>
          </p:nvPr>
        </p:nvSpPr>
        <p:spPr/>
        <p:txBody>
          <a:bodyPr/>
          <a:lstStyle/>
          <a:p>
            <a:fld id="{C3C99B3C-EB6B-4C33-849C-ED8017B87F5A}" type="datetimeFigureOut">
              <a:rPr lang="en-IN" smtClean="0"/>
              <a:t>21-04-2026</a:t>
            </a:fld>
            <a:endParaRPr lang="en-IN"/>
          </a:p>
        </p:txBody>
      </p:sp>
      <p:sp>
        <p:nvSpPr>
          <p:cNvPr id="8" name="Footer Placeholder 7">
            <a:extLst>
              <a:ext uri="{FF2B5EF4-FFF2-40B4-BE49-F238E27FC236}">
                <a16:creationId xmlns:a16="http://schemas.microsoft.com/office/drawing/2014/main" id="{91DB5495-24D2-B08C-A8F4-6389AF3FA05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D3443AA-E848-946E-48EA-25BD66E2C5C7}"/>
              </a:ext>
            </a:extLst>
          </p:cNvPr>
          <p:cNvSpPr>
            <a:spLocks noGrp="1"/>
          </p:cNvSpPr>
          <p:nvPr>
            <p:ph type="sldNum" sz="quarter" idx="12"/>
          </p:nvPr>
        </p:nvSpPr>
        <p:spPr/>
        <p:txBody>
          <a:bodyPr/>
          <a:lstStyle/>
          <a:p>
            <a:fld id="{3B73585C-91FE-4F31-B607-B599F43326E3}" type="slidenum">
              <a:rPr lang="en-IN" smtClean="0"/>
              <a:t>‹#›</a:t>
            </a:fld>
            <a:endParaRPr lang="en-IN"/>
          </a:p>
        </p:txBody>
      </p:sp>
    </p:spTree>
    <p:extLst>
      <p:ext uri="{BB962C8B-B14F-4D97-AF65-F5344CB8AC3E}">
        <p14:creationId xmlns:p14="http://schemas.microsoft.com/office/powerpoint/2010/main" val="33859987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64C93-3E9D-E075-6D21-9C35139CBDE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4EC35DF-C259-4250-3AA5-6445D6A3534E}"/>
              </a:ext>
            </a:extLst>
          </p:cNvPr>
          <p:cNvSpPr>
            <a:spLocks noGrp="1"/>
          </p:cNvSpPr>
          <p:nvPr>
            <p:ph type="dt" sz="half" idx="10"/>
          </p:nvPr>
        </p:nvSpPr>
        <p:spPr/>
        <p:txBody>
          <a:bodyPr/>
          <a:lstStyle/>
          <a:p>
            <a:fld id="{C3C99B3C-EB6B-4C33-849C-ED8017B87F5A}" type="datetimeFigureOut">
              <a:rPr lang="en-IN" smtClean="0"/>
              <a:t>21-04-2026</a:t>
            </a:fld>
            <a:endParaRPr lang="en-IN"/>
          </a:p>
        </p:txBody>
      </p:sp>
      <p:sp>
        <p:nvSpPr>
          <p:cNvPr id="4" name="Footer Placeholder 3">
            <a:extLst>
              <a:ext uri="{FF2B5EF4-FFF2-40B4-BE49-F238E27FC236}">
                <a16:creationId xmlns:a16="http://schemas.microsoft.com/office/drawing/2014/main" id="{81D71167-1BE6-6494-015D-FDD6F7CDEFD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555AF07-2ABD-5035-1F07-ADE6CB381B56}"/>
              </a:ext>
            </a:extLst>
          </p:cNvPr>
          <p:cNvSpPr>
            <a:spLocks noGrp="1"/>
          </p:cNvSpPr>
          <p:nvPr>
            <p:ph type="sldNum" sz="quarter" idx="12"/>
          </p:nvPr>
        </p:nvSpPr>
        <p:spPr/>
        <p:txBody>
          <a:bodyPr/>
          <a:lstStyle/>
          <a:p>
            <a:fld id="{3B73585C-91FE-4F31-B607-B599F43326E3}" type="slidenum">
              <a:rPr lang="en-IN" smtClean="0"/>
              <a:t>‹#›</a:t>
            </a:fld>
            <a:endParaRPr lang="en-IN"/>
          </a:p>
        </p:txBody>
      </p:sp>
    </p:spTree>
    <p:extLst>
      <p:ext uri="{BB962C8B-B14F-4D97-AF65-F5344CB8AC3E}">
        <p14:creationId xmlns:p14="http://schemas.microsoft.com/office/powerpoint/2010/main" val="14740257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898EEB-12DF-DE38-24BD-19B61E3DC5B4}"/>
              </a:ext>
            </a:extLst>
          </p:cNvPr>
          <p:cNvSpPr>
            <a:spLocks noGrp="1"/>
          </p:cNvSpPr>
          <p:nvPr>
            <p:ph type="dt" sz="half" idx="10"/>
          </p:nvPr>
        </p:nvSpPr>
        <p:spPr/>
        <p:txBody>
          <a:bodyPr/>
          <a:lstStyle/>
          <a:p>
            <a:fld id="{C3C99B3C-EB6B-4C33-849C-ED8017B87F5A}" type="datetimeFigureOut">
              <a:rPr lang="en-IN" smtClean="0"/>
              <a:t>21-04-2026</a:t>
            </a:fld>
            <a:endParaRPr lang="en-IN"/>
          </a:p>
        </p:txBody>
      </p:sp>
      <p:sp>
        <p:nvSpPr>
          <p:cNvPr id="3" name="Footer Placeholder 2">
            <a:extLst>
              <a:ext uri="{FF2B5EF4-FFF2-40B4-BE49-F238E27FC236}">
                <a16:creationId xmlns:a16="http://schemas.microsoft.com/office/drawing/2014/main" id="{C6D028F5-6924-70A8-3ADA-4284D944E1B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3E78D42-0C3A-2C4B-048B-6AFA72476CCC}"/>
              </a:ext>
            </a:extLst>
          </p:cNvPr>
          <p:cNvSpPr>
            <a:spLocks noGrp="1"/>
          </p:cNvSpPr>
          <p:nvPr>
            <p:ph type="sldNum" sz="quarter" idx="12"/>
          </p:nvPr>
        </p:nvSpPr>
        <p:spPr/>
        <p:txBody>
          <a:bodyPr/>
          <a:lstStyle/>
          <a:p>
            <a:fld id="{3B73585C-91FE-4F31-B607-B599F43326E3}" type="slidenum">
              <a:rPr lang="en-IN" smtClean="0"/>
              <a:t>‹#›</a:t>
            </a:fld>
            <a:endParaRPr lang="en-IN"/>
          </a:p>
        </p:txBody>
      </p:sp>
    </p:spTree>
    <p:extLst>
      <p:ext uri="{BB962C8B-B14F-4D97-AF65-F5344CB8AC3E}">
        <p14:creationId xmlns:p14="http://schemas.microsoft.com/office/powerpoint/2010/main" val="9528574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145F3-DF96-7666-A11D-0C9E7C78F0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50AB0C6-B653-E563-7B5D-6B8DE8356A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5C1522A-CB8D-BAD2-61C9-3664498D2B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AE46A1-BB66-5C22-849F-D99C5EDC48DC}"/>
              </a:ext>
            </a:extLst>
          </p:cNvPr>
          <p:cNvSpPr>
            <a:spLocks noGrp="1"/>
          </p:cNvSpPr>
          <p:nvPr>
            <p:ph type="dt" sz="half" idx="10"/>
          </p:nvPr>
        </p:nvSpPr>
        <p:spPr/>
        <p:txBody>
          <a:bodyPr/>
          <a:lstStyle/>
          <a:p>
            <a:fld id="{C3C99B3C-EB6B-4C33-849C-ED8017B87F5A}" type="datetimeFigureOut">
              <a:rPr lang="en-IN" smtClean="0"/>
              <a:t>21-04-2026</a:t>
            </a:fld>
            <a:endParaRPr lang="en-IN"/>
          </a:p>
        </p:txBody>
      </p:sp>
      <p:sp>
        <p:nvSpPr>
          <p:cNvPr id="6" name="Footer Placeholder 5">
            <a:extLst>
              <a:ext uri="{FF2B5EF4-FFF2-40B4-BE49-F238E27FC236}">
                <a16:creationId xmlns:a16="http://schemas.microsoft.com/office/drawing/2014/main" id="{9864E9BA-9517-51EB-A2F1-5DE50BC9B5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A4B328-D450-F8C0-D562-6076AD2591E8}"/>
              </a:ext>
            </a:extLst>
          </p:cNvPr>
          <p:cNvSpPr>
            <a:spLocks noGrp="1"/>
          </p:cNvSpPr>
          <p:nvPr>
            <p:ph type="sldNum" sz="quarter" idx="12"/>
          </p:nvPr>
        </p:nvSpPr>
        <p:spPr/>
        <p:txBody>
          <a:bodyPr/>
          <a:lstStyle/>
          <a:p>
            <a:fld id="{3B73585C-91FE-4F31-B607-B599F43326E3}" type="slidenum">
              <a:rPr lang="en-IN" smtClean="0"/>
              <a:t>‹#›</a:t>
            </a:fld>
            <a:endParaRPr lang="en-IN"/>
          </a:p>
        </p:txBody>
      </p:sp>
    </p:spTree>
    <p:extLst>
      <p:ext uri="{BB962C8B-B14F-4D97-AF65-F5344CB8AC3E}">
        <p14:creationId xmlns:p14="http://schemas.microsoft.com/office/powerpoint/2010/main" val="2684008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F7492-A8F4-2A5F-4FC5-5C956CC4F3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07C5854-D7EC-5757-ACC5-FCBD91E110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934BF41-21C5-5FE9-B871-4498B67C22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2704E2-15BE-032A-247D-BA8F198D7DC2}"/>
              </a:ext>
            </a:extLst>
          </p:cNvPr>
          <p:cNvSpPr>
            <a:spLocks noGrp="1"/>
          </p:cNvSpPr>
          <p:nvPr>
            <p:ph type="dt" sz="half" idx="10"/>
          </p:nvPr>
        </p:nvSpPr>
        <p:spPr/>
        <p:txBody>
          <a:bodyPr/>
          <a:lstStyle/>
          <a:p>
            <a:fld id="{C3C99B3C-EB6B-4C33-849C-ED8017B87F5A}" type="datetimeFigureOut">
              <a:rPr lang="en-IN" smtClean="0"/>
              <a:t>21-04-2026</a:t>
            </a:fld>
            <a:endParaRPr lang="en-IN"/>
          </a:p>
        </p:txBody>
      </p:sp>
      <p:sp>
        <p:nvSpPr>
          <p:cNvPr id="6" name="Footer Placeholder 5">
            <a:extLst>
              <a:ext uri="{FF2B5EF4-FFF2-40B4-BE49-F238E27FC236}">
                <a16:creationId xmlns:a16="http://schemas.microsoft.com/office/drawing/2014/main" id="{5975839F-A8D3-7BAA-6FF2-AF62BC7D35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88EC8EE-FED8-ABFE-482A-62F92B4A1DA6}"/>
              </a:ext>
            </a:extLst>
          </p:cNvPr>
          <p:cNvSpPr>
            <a:spLocks noGrp="1"/>
          </p:cNvSpPr>
          <p:nvPr>
            <p:ph type="sldNum" sz="quarter" idx="12"/>
          </p:nvPr>
        </p:nvSpPr>
        <p:spPr/>
        <p:txBody>
          <a:bodyPr/>
          <a:lstStyle/>
          <a:p>
            <a:fld id="{3B73585C-91FE-4F31-B607-B599F43326E3}" type="slidenum">
              <a:rPr lang="en-IN" smtClean="0"/>
              <a:t>‹#›</a:t>
            </a:fld>
            <a:endParaRPr lang="en-IN"/>
          </a:p>
        </p:txBody>
      </p:sp>
    </p:spTree>
    <p:extLst>
      <p:ext uri="{BB962C8B-B14F-4D97-AF65-F5344CB8AC3E}">
        <p14:creationId xmlns:p14="http://schemas.microsoft.com/office/powerpoint/2010/main" val="3530372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8D452-AA5B-861B-F906-1945AB46E5E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471B2B8-CD7A-8FDD-B7A5-565910D681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6943E9-F916-786E-5A88-D7ACFB897CDD}"/>
              </a:ext>
            </a:extLst>
          </p:cNvPr>
          <p:cNvSpPr>
            <a:spLocks noGrp="1"/>
          </p:cNvSpPr>
          <p:nvPr>
            <p:ph type="dt" sz="half" idx="10"/>
          </p:nvPr>
        </p:nvSpPr>
        <p:spPr/>
        <p:txBody>
          <a:bodyPr/>
          <a:lstStyle/>
          <a:p>
            <a:fld id="{C3C99B3C-EB6B-4C33-849C-ED8017B87F5A}" type="datetimeFigureOut">
              <a:rPr lang="en-IN" smtClean="0"/>
              <a:t>21-04-2026</a:t>
            </a:fld>
            <a:endParaRPr lang="en-IN"/>
          </a:p>
        </p:txBody>
      </p:sp>
      <p:sp>
        <p:nvSpPr>
          <p:cNvPr id="5" name="Footer Placeholder 4">
            <a:extLst>
              <a:ext uri="{FF2B5EF4-FFF2-40B4-BE49-F238E27FC236}">
                <a16:creationId xmlns:a16="http://schemas.microsoft.com/office/drawing/2014/main" id="{28106DFE-0408-FED0-3D2C-1A1B0F5B9E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98B4C5-F757-919C-C93C-9F850634369F}"/>
              </a:ext>
            </a:extLst>
          </p:cNvPr>
          <p:cNvSpPr>
            <a:spLocks noGrp="1"/>
          </p:cNvSpPr>
          <p:nvPr>
            <p:ph type="sldNum" sz="quarter" idx="12"/>
          </p:nvPr>
        </p:nvSpPr>
        <p:spPr/>
        <p:txBody>
          <a:bodyPr/>
          <a:lstStyle/>
          <a:p>
            <a:fld id="{3B73585C-91FE-4F31-B607-B599F43326E3}" type="slidenum">
              <a:rPr lang="en-IN" smtClean="0"/>
              <a:t>‹#›</a:t>
            </a:fld>
            <a:endParaRPr lang="en-IN"/>
          </a:p>
        </p:txBody>
      </p:sp>
    </p:spTree>
    <p:extLst>
      <p:ext uri="{BB962C8B-B14F-4D97-AF65-F5344CB8AC3E}">
        <p14:creationId xmlns:p14="http://schemas.microsoft.com/office/powerpoint/2010/main" val="1202117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96EE41-CDAD-4BC4-4E59-6582A10DC1B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CFC3281-80E3-C448-FD19-3E3120FF13A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1FB78E-F71A-F849-5AB7-A3F06D7E65A4}"/>
              </a:ext>
            </a:extLst>
          </p:cNvPr>
          <p:cNvSpPr>
            <a:spLocks noGrp="1"/>
          </p:cNvSpPr>
          <p:nvPr>
            <p:ph type="dt" sz="half" idx="10"/>
          </p:nvPr>
        </p:nvSpPr>
        <p:spPr/>
        <p:txBody>
          <a:bodyPr/>
          <a:lstStyle/>
          <a:p>
            <a:fld id="{C3C99B3C-EB6B-4C33-849C-ED8017B87F5A}" type="datetimeFigureOut">
              <a:rPr lang="en-IN" smtClean="0"/>
              <a:t>21-04-2026</a:t>
            </a:fld>
            <a:endParaRPr lang="en-IN"/>
          </a:p>
        </p:txBody>
      </p:sp>
      <p:sp>
        <p:nvSpPr>
          <p:cNvPr id="5" name="Footer Placeholder 4">
            <a:extLst>
              <a:ext uri="{FF2B5EF4-FFF2-40B4-BE49-F238E27FC236}">
                <a16:creationId xmlns:a16="http://schemas.microsoft.com/office/drawing/2014/main" id="{F7D6C5E8-1A00-149D-9354-EB905032CF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5528DD-DD87-2A3B-09E5-D1CD90B9B419}"/>
              </a:ext>
            </a:extLst>
          </p:cNvPr>
          <p:cNvSpPr>
            <a:spLocks noGrp="1"/>
          </p:cNvSpPr>
          <p:nvPr>
            <p:ph type="sldNum" sz="quarter" idx="12"/>
          </p:nvPr>
        </p:nvSpPr>
        <p:spPr/>
        <p:txBody>
          <a:bodyPr/>
          <a:lstStyle/>
          <a:p>
            <a:fld id="{3B73585C-91FE-4F31-B607-B599F43326E3}" type="slidenum">
              <a:rPr lang="en-IN" smtClean="0"/>
              <a:t>‹#›</a:t>
            </a:fld>
            <a:endParaRPr lang="en-IN"/>
          </a:p>
        </p:txBody>
      </p:sp>
    </p:spTree>
    <p:extLst>
      <p:ext uri="{BB962C8B-B14F-4D97-AF65-F5344CB8AC3E}">
        <p14:creationId xmlns:p14="http://schemas.microsoft.com/office/powerpoint/2010/main" val="426066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4CCD71-5D8A-9A18-2848-907BBF01CC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C8BA0A7-7FA0-63A9-4986-31B2C8F118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8166F02-789B-7E46-E803-F2914746BF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C99B3C-EB6B-4C33-849C-ED8017B87F5A}" type="datetimeFigureOut">
              <a:rPr lang="en-IN" smtClean="0"/>
              <a:t>21-04-2026</a:t>
            </a:fld>
            <a:endParaRPr lang="en-IN"/>
          </a:p>
        </p:txBody>
      </p:sp>
      <p:sp>
        <p:nvSpPr>
          <p:cNvPr id="5" name="Footer Placeholder 4">
            <a:extLst>
              <a:ext uri="{FF2B5EF4-FFF2-40B4-BE49-F238E27FC236}">
                <a16:creationId xmlns:a16="http://schemas.microsoft.com/office/drawing/2014/main" id="{EFC5046F-CA8A-C0D7-5B88-A318367F76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44E71E1-F8C7-391E-10A9-B4DA1E7065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73585C-91FE-4F31-B607-B599F43326E3}" type="slidenum">
              <a:rPr lang="en-IN" smtClean="0"/>
              <a:t>‹#›</a:t>
            </a:fld>
            <a:endParaRPr lang="en-IN"/>
          </a:p>
        </p:txBody>
      </p:sp>
    </p:spTree>
    <p:extLst>
      <p:ext uri="{BB962C8B-B14F-4D97-AF65-F5344CB8AC3E}">
        <p14:creationId xmlns:p14="http://schemas.microsoft.com/office/powerpoint/2010/main" val="5900334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google.com/search?q=Luffariella+variabilis&amp;rlz=1C1ONGR_enIN1197IN1197&amp;oq=manoadile&amp;gs_lcrp=EgZjaHJvbWUyBggAEEUYOdIBCjEwNzA0ajBqMTWoAgiwAgHxBft8oYFxcS8E&amp;sourceid=chrome&amp;ie=UTF-8&amp;ved=2ahUKEwjS6qahpN2TAxUnUGcHHVmmCpsQgK4QegYIAQgAEAQ"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hyperlink" Target="https://doi.org/10.1016/j.envpol.2025.126793" TargetMode="External"/><Relationship Id="rId3" Type="http://schemas.openxmlformats.org/officeDocument/2006/relationships/hyperlink" Target="https://doi.org/10.1128/IAI.71.10.5461-5471.2003" TargetMode="External"/><Relationship Id="rId7" Type="http://schemas.openxmlformats.org/officeDocument/2006/relationships/hyperlink" Target="https://doi.org/10.9734/ijecc/2025/v15i125152" TargetMode="External"/><Relationship Id="rId2" Type="http://schemas.openxmlformats.org/officeDocument/2006/relationships/hyperlink" Target="https://doi.org/10.1016/j.ijid.2010.11.003" TargetMode="External"/><Relationship Id="rId1" Type="http://schemas.openxmlformats.org/officeDocument/2006/relationships/slideLayout" Target="../slideLayouts/slideLayout2.xml"/><Relationship Id="rId6" Type="http://schemas.openxmlformats.org/officeDocument/2006/relationships/hyperlink" Target="https://doi.org/10.1007/978-981-16-9723-4_6-1" TargetMode="External"/><Relationship Id="rId5" Type="http://schemas.openxmlformats.org/officeDocument/2006/relationships/hyperlink" Target="https://doi.org/10.1007/s44351-025-00023-9" TargetMode="External"/><Relationship Id="rId10" Type="http://schemas.openxmlformats.org/officeDocument/2006/relationships/hyperlink" Target="https://doi.org/10.1038/s41598-022-25026-3" TargetMode="External"/><Relationship Id="rId4" Type="http://schemas.openxmlformats.org/officeDocument/2006/relationships/hyperlink" Target="https://doi.org/10.1016/S0168-6445(03)00064-0" TargetMode="External"/><Relationship Id="rId9" Type="http://schemas.openxmlformats.org/officeDocument/2006/relationships/hyperlink" Target="https://doi.org/10.1186/1471-2105-11-11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D83447A-13B1-661B-7663-71B9655095C4}"/>
              </a:ext>
            </a:extLst>
          </p:cNvPr>
          <p:cNvSpPr>
            <a:spLocks noGrp="1"/>
          </p:cNvSpPr>
          <p:nvPr>
            <p:ph type="ctrTitle"/>
          </p:nvPr>
        </p:nvSpPr>
        <p:spPr>
          <a:xfrm>
            <a:off x="1523999" y="1122363"/>
            <a:ext cx="9368589" cy="3321300"/>
          </a:xfrm>
        </p:spPr>
        <p:txBody>
          <a:bodyPr>
            <a:normAutofit/>
          </a:bodyPr>
          <a:lstStyle/>
          <a:p>
            <a:r>
              <a:rPr lang="en-US" b="1" dirty="0">
                <a:latin typeface="+mn-lt"/>
              </a:rPr>
              <a:t>Marine Natural Products vs. Superbugs: A Molecular Docking Study</a:t>
            </a:r>
            <a:endParaRPr lang="en-IN" b="1" dirty="0">
              <a:latin typeface="+mn-lt"/>
            </a:endParaRPr>
          </a:p>
        </p:txBody>
      </p:sp>
      <p:sp>
        <p:nvSpPr>
          <p:cNvPr id="5" name="Subtitle 4">
            <a:extLst>
              <a:ext uri="{FF2B5EF4-FFF2-40B4-BE49-F238E27FC236}">
                <a16:creationId xmlns:a16="http://schemas.microsoft.com/office/drawing/2014/main" id="{CA601EE7-91C1-79AB-9C24-FD25500265A7}"/>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2272802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42E3C-BEFB-2EE1-3C78-7C8AD56BA87A}"/>
              </a:ext>
            </a:extLst>
          </p:cNvPr>
          <p:cNvSpPr>
            <a:spLocks noGrp="1"/>
          </p:cNvSpPr>
          <p:nvPr>
            <p:ph type="title"/>
          </p:nvPr>
        </p:nvSpPr>
        <p:spPr/>
        <p:txBody>
          <a:bodyPr/>
          <a:lstStyle/>
          <a:p>
            <a:pPr algn="ctr"/>
            <a:r>
              <a:rPr lang="en-US" b="1" dirty="0"/>
              <a:t>Background Of Project </a:t>
            </a:r>
            <a:endParaRPr lang="en-IN" dirty="0"/>
          </a:p>
        </p:txBody>
      </p:sp>
      <p:sp>
        <p:nvSpPr>
          <p:cNvPr id="3" name="Content Placeholder 2">
            <a:extLst>
              <a:ext uri="{FF2B5EF4-FFF2-40B4-BE49-F238E27FC236}">
                <a16:creationId xmlns:a16="http://schemas.microsoft.com/office/drawing/2014/main" id="{40B21EDB-9B8B-4BCA-F3A0-D0ECF783A743}"/>
              </a:ext>
            </a:extLst>
          </p:cNvPr>
          <p:cNvSpPr>
            <a:spLocks noGrp="1"/>
          </p:cNvSpPr>
          <p:nvPr>
            <p:ph idx="1"/>
          </p:nvPr>
        </p:nvSpPr>
        <p:spPr/>
        <p:txBody>
          <a:bodyPr>
            <a:normAutofit lnSpcReduction="10000"/>
          </a:bodyPr>
          <a:lstStyle/>
          <a:p>
            <a:r>
              <a:rPr lang="en-US" dirty="0"/>
              <a:t>Antimicrobial resistance (AMR) has emerged as a critical global health challenge, reducing the effectiveness of existing antibiotics and increasing the risk of untreatable infections </a:t>
            </a:r>
            <a:r>
              <a:rPr lang="en-US" sz="1400" b="1" dirty="0">
                <a:hlinkClick r:id="" action="ppaction://noaction"/>
              </a:rPr>
              <a:t>[Kumar et al., 2025; Li et al., 2025].</a:t>
            </a:r>
          </a:p>
          <a:p>
            <a:r>
              <a:rPr lang="en-US" dirty="0"/>
              <a:t> In recent years, marine environments have gained attention as a rich source of bioactive compounds with potential therapeutic applications </a:t>
            </a:r>
            <a:r>
              <a:rPr lang="en-US" sz="1400" b="1" dirty="0">
                <a:hlinkClick r:id="" action="ppaction://noaction"/>
              </a:rPr>
              <a:t>[Sharma et al., 2022].</a:t>
            </a:r>
          </a:p>
          <a:p>
            <a:r>
              <a:rPr lang="en-US" dirty="0"/>
              <a:t> Among marine pathogens, </a:t>
            </a:r>
            <a:r>
              <a:rPr lang="en-US" i="1" dirty="0"/>
              <a:t>Vibrio vulnificus</a:t>
            </a:r>
            <a:r>
              <a:rPr lang="en-US" dirty="0"/>
              <a:t> is particularly significant due to its ability to cause severe infections and its increasing resistance to multiple drugs </a:t>
            </a:r>
            <a:r>
              <a:rPr lang="en-US" sz="1400" b="1" dirty="0">
                <a:hlinkClick r:id="" action="ppaction://noaction"/>
              </a:rPr>
              <a:t>[Oliver, 2010; Litwin &amp; Calderwood, 2003].</a:t>
            </a:r>
          </a:p>
          <a:p>
            <a:r>
              <a:rPr lang="en-US" dirty="0"/>
              <a:t> This highlights the urgent need to explore novel compounds that can effectively target resistant bacterial mechanisms </a:t>
            </a:r>
            <a:r>
              <a:rPr lang="en-US" sz="1400" b="1" dirty="0">
                <a:hlinkClick r:id="" action="ppaction://noaction"/>
              </a:rPr>
              <a:t>[Das et al., 2025].</a:t>
            </a:r>
            <a:endParaRPr lang="en-IN" dirty="0"/>
          </a:p>
        </p:txBody>
      </p:sp>
    </p:spTree>
    <p:extLst>
      <p:ext uri="{BB962C8B-B14F-4D97-AF65-F5344CB8AC3E}">
        <p14:creationId xmlns:p14="http://schemas.microsoft.com/office/powerpoint/2010/main" val="4158972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81790-F69D-40D0-8D7A-9EDD0D21856E}"/>
              </a:ext>
            </a:extLst>
          </p:cNvPr>
          <p:cNvSpPr>
            <a:spLocks noGrp="1"/>
          </p:cNvSpPr>
          <p:nvPr>
            <p:ph type="title"/>
          </p:nvPr>
        </p:nvSpPr>
        <p:spPr>
          <a:xfrm>
            <a:off x="725905" y="-240631"/>
            <a:ext cx="10515600" cy="1325563"/>
          </a:xfrm>
        </p:spPr>
        <p:txBody>
          <a:bodyPr/>
          <a:lstStyle/>
          <a:p>
            <a:pPr algn="ctr"/>
            <a:r>
              <a:rPr lang="en-IN" b="1" dirty="0"/>
              <a:t>Study Rationale</a:t>
            </a:r>
            <a:endParaRPr lang="en-IN" dirty="0"/>
          </a:p>
        </p:txBody>
      </p:sp>
      <p:sp>
        <p:nvSpPr>
          <p:cNvPr id="4" name="Rectangle 1">
            <a:extLst>
              <a:ext uri="{FF2B5EF4-FFF2-40B4-BE49-F238E27FC236}">
                <a16:creationId xmlns:a16="http://schemas.microsoft.com/office/drawing/2014/main" id="{3E5A79CD-6000-0F4D-A082-24BC877A2936}"/>
              </a:ext>
            </a:extLst>
          </p:cNvPr>
          <p:cNvSpPr>
            <a:spLocks noGrp="1" noChangeArrowheads="1"/>
          </p:cNvSpPr>
          <p:nvPr>
            <p:ph idx="1"/>
          </p:nvPr>
        </p:nvSpPr>
        <p:spPr bwMode="auto">
          <a:xfrm>
            <a:off x="609599" y="855366"/>
            <a:ext cx="11181347" cy="5944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The genome of </a:t>
            </a:r>
            <a:r>
              <a:rPr lang="en-US" i="1" dirty="0"/>
              <a:t>Vibrio vulnificus</a:t>
            </a:r>
            <a:r>
              <a:rPr lang="en-US" dirty="0"/>
              <a:t> (accession: GCA_002224265.1) was analyzed to identify antimicrobial resistance (AMR) genes using the CARD database along with the RGI tool </a:t>
            </a:r>
            <a:r>
              <a:rPr lang="en-US" sz="1400" b="1" dirty="0">
                <a:hlinkClick r:id="" action="ppaction://noaction"/>
              </a:rPr>
              <a:t>[Alcock et al., 2022].</a:t>
            </a:r>
            <a:r>
              <a:rPr lang="en-US" dirty="0"/>
              <a:t> The protein sequences corresponding to these resistance genes were then structurally characterized using AlphaFold2 and available data from the Protein Data Bank (PDB) </a:t>
            </a:r>
            <a:r>
              <a:rPr lang="en-US" sz="1400" b="1" dirty="0">
                <a:hlinkClick r:id="" action="ppaction://noaction"/>
              </a:rPr>
              <a:t>[Thompson et al., 2004].</a:t>
            </a:r>
          </a:p>
          <a:p>
            <a:r>
              <a:rPr lang="en-US" dirty="0"/>
              <a:t>A marine-derived compound, Manoalide, was selected from the CMNPD and PubChem databases (CID: 6437368) based on its known bioactive properties </a:t>
            </a:r>
            <a:r>
              <a:rPr lang="en-US" sz="1400" b="1" dirty="0">
                <a:hlinkClick r:id="" action="ppaction://noaction"/>
              </a:rPr>
              <a:t>[Sharma et al., 2022].</a:t>
            </a:r>
            <a:r>
              <a:rPr lang="en-US" dirty="0"/>
              <a:t> Molecular docking studies were performed using CB-Dock2 to evaluate the binding affinity of Manoalide against the identified AMR proteins.</a:t>
            </a:r>
          </a:p>
          <a:p>
            <a:r>
              <a:rPr lang="en-US" dirty="0"/>
              <a:t>Finally, the protein–ligand interactions were visualized using </a:t>
            </a:r>
            <a:r>
              <a:rPr lang="en-US" dirty="0" err="1"/>
              <a:t>PyMOL</a:t>
            </a:r>
            <a:r>
              <a:rPr lang="en-US" dirty="0"/>
              <a:t>, and the pharmacokinetic properties of the compound were assessed through </a:t>
            </a:r>
            <a:r>
              <a:rPr lang="en-US" dirty="0" err="1"/>
              <a:t>SwissADME</a:t>
            </a:r>
            <a:r>
              <a:rPr lang="en-US" dirty="0"/>
              <a:t> analysis to determine its potential as a drug candidate </a:t>
            </a:r>
            <a:r>
              <a:rPr lang="en-US" sz="1400" b="1" dirty="0">
                <a:hlinkClick r:id="" action="ppaction://noaction"/>
              </a:rPr>
              <a:t>[Hyatt et al., 2010].</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lvl="0" indent="0"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690975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03D2F-5480-72EA-ACEF-7D248B37E095}"/>
              </a:ext>
            </a:extLst>
          </p:cNvPr>
          <p:cNvSpPr>
            <a:spLocks noGrp="1"/>
          </p:cNvSpPr>
          <p:nvPr>
            <p:ph type="title"/>
          </p:nvPr>
        </p:nvSpPr>
        <p:spPr/>
        <p:txBody>
          <a:bodyPr/>
          <a:lstStyle/>
          <a:p>
            <a:r>
              <a:rPr lang="en-IN" b="1" dirty="0"/>
              <a:t>Workflow</a:t>
            </a:r>
          </a:p>
        </p:txBody>
      </p:sp>
      <p:pic>
        <p:nvPicPr>
          <p:cNvPr id="9" name="Content Placeholder 8">
            <a:extLst>
              <a:ext uri="{FF2B5EF4-FFF2-40B4-BE49-F238E27FC236}">
                <a16:creationId xmlns:a16="http://schemas.microsoft.com/office/drawing/2014/main" id="{57D70255-2428-FDBD-DFBF-E3F2AE549E8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59710" y="116072"/>
            <a:ext cx="6794090" cy="6625856"/>
          </a:xfrm>
          <a:prstGeom prst="rect">
            <a:avLst/>
          </a:prstGeom>
        </p:spPr>
      </p:pic>
    </p:spTree>
    <p:extLst>
      <p:ext uri="{BB962C8B-B14F-4D97-AF65-F5344CB8AC3E}">
        <p14:creationId xmlns:p14="http://schemas.microsoft.com/office/powerpoint/2010/main" val="1823442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86D44-5211-F4D0-EE84-09D3FBF1F99E}"/>
              </a:ext>
            </a:extLst>
          </p:cNvPr>
          <p:cNvSpPr>
            <a:spLocks noGrp="1"/>
          </p:cNvSpPr>
          <p:nvPr>
            <p:ph type="title"/>
          </p:nvPr>
        </p:nvSpPr>
        <p:spPr>
          <a:xfrm>
            <a:off x="838200" y="-324685"/>
            <a:ext cx="10515600" cy="1325563"/>
          </a:xfrm>
        </p:spPr>
        <p:txBody>
          <a:bodyPr/>
          <a:lstStyle/>
          <a:p>
            <a:pPr algn="ctr"/>
            <a:r>
              <a:rPr lang="en-IN" b="1" dirty="0"/>
              <a:t>Methodology</a:t>
            </a:r>
          </a:p>
        </p:txBody>
      </p:sp>
      <p:sp>
        <p:nvSpPr>
          <p:cNvPr id="3" name="Content Placeholder 2">
            <a:extLst>
              <a:ext uri="{FF2B5EF4-FFF2-40B4-BE49-F238E27FC236}">
                <a16:creationId xmlns:a16="http://schemas.microsoft.com/office/drawing/2014/main" id="{EA193A2F-B07C-ECC2-3093-6BA2B72DBC9A}"/>
              </a:ext>
            </a:extLst>
          </p:cNvPr>
          <p:cNvSpPr>
            <a:spLocks noGrp="1"/>
          </p:cNvSpPr>
          <p:nvPr>
            <p:ph idx="1"/>
          </p:nvPr>
        </p:nvSpPr>
        <p:spPr>
          <a:xfrm>
            <a:off x="593558" y="1000878"/>
            <a:ext cx="10760242" cy="5176085"/>
          </a:xfrm>
        </p:spPr>
        <p:txBody>
          <a:bodyPr>
            <a:normAutofit fontScale="47500" lnSpcReduction="20000"/>
          </a:bodyPr>
          <a:lstStyle/>
          <a:p>
            <a:r>
              <a:rPr lang="en-US" sz="5100" dirty="0"/>
              <a:t>The study began with the retrieval of the complete genome sequence of </a:t>
            </a:r>
            <a:r>
              <a:rPr lang="en-US" sz="5100" i="1" dirty="0"/>
              <a:t>Vibrio vulnificus</a:t>
            </a:r>
            <a:r>
              <a:rPr lang="en-US" sz="5100" dirty="0"/>
              <a:t> (GCA_002224265.1), including Chromosome 1 (CP012881.1) and Chromosome 2 (CP012882.1), with a total size of 5.12 MB. Gene prediction was performed using Prodigal, resulting in 4352 protein sequences. These predicted proteins were analyzed using the CARD database along with the RGI tool to identify antimicrobial resistance (AMR) genes.</a:t>
            </a:r>
          </a:p>
          <a:p>
            <a:r>
              <a:rPr lang="en-US" sz="5100" dirty="0"/>
              <a:t>The identified AMR protein sequences were then structurally modeled using AlphaFold2 and available structures from the Protein Data Bank (PDB). A marine-derived compound, Manoalide </a:t>
            </a:r>
            <a:r>
              <a:rPr lang="en-IN" sz="5100" dirty="0"/>
              <a:t>found in the sponge </a:t>
            </a:r>
            <a:r>
              <a:rPr lang="en-IN" sz="5100" i="1" dirty="0" err="1">
                <a:hlinkClick r:id="rId2"/>
              </a:rPr>
              <a:t>Luffariella</a:t>
            </a:r>
            <a:r>
              <a:rPr lang="en-IN" sz="5100" i="1" dirty="0">
                <a:hlinkClick r:id="rId2"/>
              </a:rPr>
              <a:t> variabilis </a:t>
            </a:r>
            <a:r>
              <a:rPr lang="en-US" sz="5100" dirty="0"/>
              <a:t>(PubChem CID: 6437368), was retrieved from CMNPD and PubChem databases, converted from SDF to PDB format, and prepared for docking.</a:t>
            </a:r>
          </a:p>
          <a:p>
            <a:r>
              <a:rPr lang="en-US" sz="5100" dirty="0"/>
              <a:t>Molecular docking was carried out using CB-Dock2 to evaluate binding interactions between Manoalide and AMR proteins. The docked complexes were visualized using </a:t>
            </a:r>
            <a:r>
              <a:rPr lang="en-US" sz="5100" dirty="0" err="1"/>
              <a:t>PyMOL</a:t>
            </a:r>
            <a:r>
              <a:rPr lang="en-US" sz="5100" dirty="0"/>
              <a:t> to analyze protein–ligand interactions, and finally, </a:t>
            </a:r>
            <a:r>
              <a:rPr lang="en-US" sz="5100" dirty="0" err="1"/>
              <a:t>SwissADME</a:t>
            </a:r>
            <a:r>
              <a:rPr lang="en-US" sz="5100" dirty="0"/>
              <a:t> was used to assess the pharmacokinetic and drug-likeness properties of the compound.</a:t>
            </a:r>
          </a:p>
          <a:p>
            <a:endParaRPr lang="en-IN" dirty="0"/>
          </a:p>
        </p:txBody>
      </p:sp>
    </p:spTree>
    <p:extLst>
      <p:ext uri="{BB962C8B-B14F-4D97-AF65-F5344CB8AC3E}">
        <p14:creationId xmlns:p14="http://schemas.microsoft.com/office/powerpoint/2010/main" val="3649284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A6BC8-3979-CD36-B37D-321F1CE64889}"/>
              </a:ext>
            </a:extLst>
          </p:cNvPr>
          <p:cNvSpPr>
            <a:spLocks noGrp="1"/>
          </p:cNvSpPr>
          <p:nvPr>
            <p:ph type="title"/>
          </p:nvPr>
        </p:nvSpPr>
        <p:spPr>
          <a:xfrm>
            <a:off x="838200" y="0"/>
            <a:ext cx="10515600" cy="1325563"/>
          </a:xfrm>
        </p:spPr>
        <p:txBody>
          <a:bodyPr/>
          <a:lstStyle/>
          <a:p>
            <a:pPr algn="ctr"/>
            <a:r>
              <a:rPr lang="en-US" b="1" dirty="0"/>
              <a:t>Results</a:t>
            </a:r>
            <a:br>
              <a:rPr lang="en-US" dirty="0"/>
            </a:br>
            <a:endParaRPr lang="en-IN" dirty="0"/>
          </a:p>
        </p:txBody>
      </p:sp>
      <p:sp>
        <p:nvSpPr>
          <p:cNvPr id="10" name="Content Placeholder 9">
            <a:extLst>
              <a:ext uri="{FF2B5EF4-FFF2-40B4-BE49-F238E27FC236}">
                <a16:creationId xmlns:a16="http://schemas.microsoft.com/office/drawing/2014/main" id="{0169A5B2-E629-5277-6C5A-D9E64B4DA6E2}"/>
              </a:ext>
            </a:extLst>
          </p:cNvPr>
          <p:cNvSpPr>
            <a:spLocks noGrp="1"/>
          </p:cNvSpPr>
          <p:nvPr>
            <p:ph idx="1"/>
          </p:nvPr>
        </p:nvSpPr>
        <p:spPr>
          <a:xfrm>
            <a:off x="838200" y="711443"/>
            <a:ext cx="10515600" cy="5435113"/>
          </a:xfrm>
        </p:spPr>
        <p:txBody>
          <a:bodyPr>
            <a:normAutofit/>
          </a:bodyPr>
          <a:lstStyle/>
          <a:p>
            <a:pPr marL="0" indent="0" algn="ctr">
              <a:buNone/>
            </a:pPr>
            <a:r>
              <a:rPr lang="en-IN" sz="2400" b="1" dirty="0">
                <a:latin typeface="Arial" panose="020B0604020202020204" pitchFamily="34" charset="0"/>
                <a:cs typeface="Arial" panose="020B0604020202020204" pitchFamily="34" charset="0"/>
              </a:rPr>
              <a:t>Comprehensive Antibiotic Resistance Database(CARD</a:t>
            </a:r>
            <a:r>
              <a:rPr lang="en-IN" sz="2400" dirty="0"/>
              <a:t>)   </a:t>
            </a:r>
          </a:p>
        </p:txBody>
      </p:sp>
      <p:pic>
        <p:nvPicPr>
          <p:cNvPr id="12" name="Picture 11">
            <a:extLst>
              <a:ext uri="{FF2B5EF4-FFF2-40B4-BE49-F238E27FC236}">
                <a16:creationId xmlns:a16="http://schemas.microsoft.com/office/drawing/2014/main" id="{1B496D96-07EF-40FC-61A1-ADE5673D8062}"/>
              </a:ext>
            </a:extLst>
          </p:cNvPr>
          <p:cNvPicPr>
            <a:picLocks noChangeAspect="1"/>
          </p:cNvPicPr>
          <p:nvPr/>
        </p:nvPicPr>
        <p:blipFill>
          <a:blip r:embed="rId2"/>
          <a:stretch>
            <a:fillRect/>
          </a:stretch>
        </p:blipFill>
        <p:spPr>
          <a:xfrm>
            <a:off x="636582" y="1325563"/>
            <a:ext cx="10717218" cy="3757306"/>
          </a:xfrm>
          <a:prstGeom prst="rect">
            <a:avLst/>
          </a:prstGeom>
        </p:spPr>
      </p:pic>
      <p:sp>
        <p:nvSpPr>
          <p:cNvPr id="4" name="TextBox 3">
            <a:extLst>
              <a:ext uri="{FF2B5EF4-FFF2-40B4-BE49-F238E27FC236}">
                <a16:creationId xmlns:a16="http://schemas.microsoft.com/office/drawing/2014/main" id="{27985C06-C1D1-95F1-DBF0-6D40AB056EDC}"/>
              </a:ext>
            </a:extLst>
          </p:cNvPr>
          <p:cNvSpPr txBox="1"/>
          <p:nvPr/>
        </p:nvSpPr>
        <p:spPr>
          <a:xfrm>
            <a:off x="1379621" y="5293404"/>
            <a:ext cx="9657347" cy="923330"/>
          </a:xfrm>
          <a:prstGeom prst="rect">
            <a:avLst/>
          </a:prstGeom>
          <a:noFill/>
        </p:spPr>
        <p:txBody>
          <a:bodyPr wrap="square">
            <a:spAutoFit/>
          </a:bodyPr>
          <a:lstStyle/>
          <a:p>
            <a:r>
              <a:rPr lang="en-IN" dirty="0"/>
              <a:t>The RGI analysis identified five strict antibiotic resistance gene hits with varying sequence identity. The dominant resistance mechanisms observed include antibiotic efflux and target alteration, suggesting intrinsic resistance potential within the </a:t>
            </a:r>
            <a:r>
              <a:rPr lang="en-IN" dirty="0" err="1"/>
              <a:t>analyzed</a:t>
            </a:r>
            <a:r>
              <a:rPr lang="en-IN" dirty="0"/>
              <a:t> dataset</a:t>
            </a:r>
          </a:p>
        </p:txBody>
      </p:sp>
    </p:spTree>
    <p:extLst>
      <p:ext uri="{BB962C8B-B14F-4D97-AF65-F5344CB8AC3E}">
        <p14:creationId xmlns:p14="http://schemas.microsoft.com/office/powerpoint/2010/main" val="39337422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1155B-B6D1-6C40-1CE3-85EC39166EC3}"/>
              </a:ext>
            </a:extLst>
          </p:cNvPr>
          <p:cNvSpPr>
            <a:spLocks noGrp="1"/>
          </p:cNvSpPr>
          <p:nvPr>
            <p:ph type="title"/>
          </p:nvPr>
        </p:nvSpPr>
        <p:spPr>
          <a:xfrm>
            <a:off x="838200" y="131762"/>
            <a:ext cx="10515600" cy="549275"/>
          </a:xfrm>
        </p:spPr>
        <p:txBody>
          <a:bodyPr>
            <a:noAutofit/>
          </a:bodyPr>
          <a:lstStyle/>
          <a:p>
            <a:pPr algn="ctr"/>
            <a:r>
              <a:rPr lang="en-IN" sz="2000" b="1" dirty="0">
                <a:latin typeface="Arial" panose="020B0604020202020204" pitchFamily="34" charset="0"/>
                <a:cs typeface="Arial" panose="020B0604020202020204" pitchFamily="34" charset="0"/>
              </a:rPr>
              <a:t>CB-dock2 tool result and </a:t>
            </a:r>
            <a:r>
              <a:rPr lang="en-IN" sz="2000" b="1" dirty="0" err="1">
                <a:latin typeface="Arial" panose="020B0604020202020204" pitchFamily="34" charset="0"/>
                <a:cs typeface="Arial" panose="020B0604020202020204" pitchFamily="34" charset="0"/>
              </a:rPr>
              <a:t>Pymol</a:t>
            </a:r>
            <a:r>
              <a:rPr lang="en-IN" sz="2000" b="1" dirty="0">
                <a:latin typeface="Arial" panose="020B0604020202020204" pitchFamily="34" charset="0"/>
                <a:cs typeface="Arial" panose="020B0604020202020204" pitchFamily="34" charset="0"/>
              </a:rPr>
              <a:t> visualization</a:t>
            </a:r>
          </a:p>
        </p:txBody>
      </p:sp>
      <p:sp>
        <p:nvSpPr>
          <p:cNvPr id="3" name="Content Placeholder 2">
            <a:extLst>
              <a:ext uri="{FF2B5EF4-FFF2-40B4-BE49-F238E27FC236}">
                <a16:creationId xmlns:a16="http://schemas.microsoft.com/office/drawing/2014/main" id="{59EB64B7-8C4F-C51B-0ABD-E47A46C4D503}"/>
              </a:ext>
            </a:extLst>
          </p:cNvPr>
          <p:cNvSpPr>
            <a:spLocks noGrp="1"/>
          </p:cNvSpPr>
          <p:nvPr>
            <p:ph idx="1"/>
          </p:nvPr>
        </p:nvSpPr>
        <p:spPr>
          <a:xfrm>
            <a:off x="324465" y="506450"/>
            <a:ext cx="11632369" cy="6219788"/>
          </a:xfrm>
        </p:spPr>
        <p:txBody>
          <a:bodyPr>
            <a:normAutofit/>
          </a:bodyPr>
          <a:lstStyle/>
          <a:p>
            <a:pPr marL="0" indent="0">
              <a:buNone/>
            </a:pPr>
            <a:r>
              <a:rPr lang="en-IN" sz="2400" dirty="0" err="1"/>
              <a:t>parE</a:t>
            </a:r>
            <a:r>
              <a:rPr lang="en-IN" sz="2400" dirty="0"/>
              <a:t> (Escherichia coli)</a:t>
            </a:r>
          </a:p>
          <a:p>
            <a:endParaRPr lang="en-IN" sz="2400" dirty="0"/>
          </a:p>
        </p:txBody>
      </p:sp>
      <p:pic>
        <p:nvPicPr>
          <p:cNvPr id="4" name="Picture 3">
            <a:extLst>
              <a:ext uri="{FF2B5EF4-FFF2-40B4-BE49-F238E27FC236}">
                <a16:creationId xmlns:a16="http://schemas.microsoft.com/office/drawing/2014/main" id="{883DADD4-C8FB-B30F-E749-CC1593E06D00}"/>
              </a:ext>
            </a:extLst>
          </p:cNvPr>
          <p:cNvPicPr>
            <a:picLocks noChangeAspect="1"/>
          </p:cNvPicPr>
          <p:nvPr/>
        </p:nvPicPr>
        <p:blipFill>
          <a:blip r:embed="rId2"/>
          <a:stretch>
            <a:fillRect/>
          </a:stretch>
        </p:blipFill>
        <p:spPr>
          <a:xfrm>
            <a:off x="730044" y="1099881"/>
            <a:ext cx="3527323" cy="2243656"/>
          </a:xfrm>
          <a:prstGeom prst="rect">
            <a:avLst/>
          </a:prstGeom>
        </p:spPr>
      </p:pic>
      <p:pic>
        <p:nvPicPr>
          <p:cNvPr id="6" name="Picture 5">
            <a:extLst>
              <a:ext uri="{FF2B5EF4-FFF2-40B4-BE49-F238E27FC236}">
                <a16:creationId xmlns:a16="http://schemas.microsoft.com/office/drawing/2014/main" id="{6DF89C83-F43E-A83A-239E-83A6AD4BD3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4148" y="1010846"/>
            <a:ext cx="3576793" cy="2332691"/>
          </a:xfrm>
          <a:prstGeom prst="rect">
            <a:avLst/>
          </a:prstGeom>
        </p:spPr>
      </p:pic>
      <p:sp>
        <p:nvSpPr>
          <p:cNvPr id="8" name="TextBox 7">
            <a:extLst>
              <a:ext uri="{FF2B5EF4-FFF2-40B4-BE49-F238E27FC236}">
                <a16:creationId xmlns:a16="http://schemas.microsoft.com/office/drawing/2014/main" id="{8CEAA890-7089-9191-2109-28C2417C4BAA}"/>
              </a:ext>
            </a:extLst>
          </p:cNvPr>
          <p:cNvSpPr txBox="1"/>
          <p:nvPr/>
        </p:nvSpPr>
        <p:spPr>
          <a:xfrm>
            <a:off x="442452" y="3429000"/>
            <a:ext cx="6096000" cy="492122"/>
          </a:xfrm>
          <a:prstGeom prst="rect">
            <a:avLst/>
          </a:prstGeom>
          <a:noFill/>
        </p:spPr>
        <p:txBody>
          <a:bodyPr wrap="square">
            <a:spAutoFit/>
          </a:bodyPr>
          <a:lstStyle/>
          <a:p>
            <a:pPr>
              <a:lnSpc>
                <a:spcPct val="115000"/>
              </a:lnSpc>
              <a:spcAft>
                <a:spcPts val="800"/>
              </a:spcAft>
            </a:pPr>
            <a:r>
              <a:rPr lang="en-IN" sz="2400" kern="100" dirty="0">
                <a:effectLst/>
                <a:latin typeface="Calibri" panose="020F0502020204030204" pitchFamily="34" charset="0"/>
                <a:ea typeface="Calibri" panose="020F0502020204030204" pitchFamily="34" charset="0"/>
                <a:cs typeface="Times New Roman" panose="02020603050405020304" pitchFamily="18" charset="0"/>
              </a:rPr>
              <a:t>Vibrio cholerae </a:t>
            </a:r>
            <a:r>
              <a:rPr lang="en-IN" sz="2400" kern="100" dirty="0" err="1">
                <a:effectLst/>
                <a:latin typeface="Calibri" panose="020F0502020204030204" pitchFamily="34" charset="0"/>
                <a:ea typeface="Calibri" panose="020F0502020204030204" pitchFamily="34" charset="0"/>
                <a:cs typeface="Times New Roman" panose="02020603050405020304" pitchFamily="18" charset="0"/>
              </a:rPr>
              <a:t>varG</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Picture 8">
            <a:extLst>
              <a:ext uri="{FF2B5EF4-FFF2-40B4-BE49-F238E27FC236}">
                <a16:creationId xmlns:a16="http://schemas.microsoft.com/office/drawing/2014/main" id="{A5DDD1ED-D92B-DA3E-89D0-BF50556C42DB}"/>
              </a:ext>
            </a:extLst>
          </p:cNvPr>
          <p:cNvPicPr>
            <a:picLocks noChangeAspect="1"/>
          </p:cNvPicPr>
          <p:nvPr/>
        </p:nvPicPr>
        <p:blipFill>
          <a:blip r:embed="rId4"/>
          <a:stretch>
            <a:fillRect/>
          </a:stretch>
        </p:blipFill>
        <p:spPr>
          <a:xfrm>
            <a:off x="730044" y="3945529"/>
            <a:ext cx="3419167" cy="2283272"/>
          </a:xfrm>
          <a:prstGeom prst="rect">
            <a:avLst/>
          </a:prstGeom>
        </p:spPr>
      </p:pic>
      <p:pic>
        <p:nvPicPr>
          <p:cNvPr id="11" name="Picture 10">
            <a:extLst>
              <a:ext uri="{FF2B5EF4-FFF2-40B4-BE49-F238E27FC236}">
                <a16:creationId xmlns:a16="http://schemas.microsoft.com/office/drawing/2014/main" id="{F0D0EF1C-1732-0886-DA35-9390967182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98478" y="3675973"/>
            <a:ext cx="3328132" cy="2552828"/>
          </a:xfrm>
          <a:prstGeom prst="rect">
            <a:avLst/>
          </a:prstGeom>
        </p:spPr>
      </p:pic>
      <p:sp>
        <p:nvSpPr>
          <p:cNvPr id="13" name="TextBox 12">
            <a:extLst>
              <a:ext uri="{FF2B5EF4-FFF2-40B4-BE49-F238E27FC236}">
                <a16:creationId xmlns:a16="http://schemas.microsoft.com/office/drawing/2014/main" id="{B498BEBD-4638-0383-DF37-D37F87E167E6}"/>
              </a:ext>
            </a:extLst>
          </p:cNvPr>
          <p:cNvSpPr txBox="1"/>
          <p:nvPr/>
        </p:nvSpPr>
        <p:spPr>
          <a:xfrm>
            <a:off x="5257801" y="506449"/>
            <a:ext cx="6096000" cy="461665"/>
          </a:xfrm>
          <a:prstGeom prst="rect">
            <a:avLst/>
          </a:prstGeom>
          <a:noFill/>
        </p:spPr>
        <p:txBody>
          <a:bodyPr wrap="square">
            <a:spAutoFit/>
          </a:bodyPr>
          <a:lstStyle/>
          <a:p>
            <a:r>
              <a:rPr lang="en-IN" sz="2400" dirty="0" err="1"/>
              <a:t>PyMOL</a:t>
            </a:r>
            <a:r>
              <a:rPr lang="en-IN" sz="2400" dirty="0"/>
              <a:t> visualization</a:t>
            </a:r>
          </a:p>
        </p:txBody>
      </p:sp>
      <p:sp>
        <p:nvSpPr>
          <p:cNvPr id="15" name="TextBox 14">
            <a:extLst>
              <a:ext uri="{FF2B5EF4-FFF2-40B4-BE49-F238E27FC236}">
                <a16:creationId xmlns:a16="http://schemas.microsoft.com/office/drawing/2014/main" id="{1C7901FD-3252-BA00-9E5B-BC58B2E6DF26}"/>
              </a:ext>
            </a:extLst>
          </p:cNvPr>
          <p:cNvSpPr txBox="1"/>
          <p:nvPr/>
        </p:nvSpPr>
        <p:spPr>
          <a:xfrm>
            <a:off x="8467722" y="1468980"/>
            <a:ext cx="3489112" cy="1200329"/>
          </a:xfrm>
          <a:prstGeom prst="rect">
            <a:avLst/>
          </a:prstGeom>
          <a:noFill/>
        </p:spPr>
        <p:txBody>
          <a:bodyPr wrap="square">
            <a:spAutoFit/>
          </a:bodyPr>
          <a:lstStyle/>
          <a:p>
            <a:r>
              <a:rPr lang="en-US" dirty="0"/>
              <a:t>Strongest interaction observed with 4 hydrogen bond in </a:t>
            </a:r>
            <a:r>
              <a:rPr lang="en-US" dirty="0" err="1"/>
              <a:t>parE</a:t>
            </a:r>
            <a:r>
              <a:rPr lang="en-US" dirty="0"/>
              <a:t> protein (Vina score: −11.2 kcal/mol)</a:t>
            </a:r>
            <a:endParaRPr lang="en-IN" dirty="0"/>
          </a:p>
        </p:txBody>
      </p:sp>
      <p:sp>
        <p:nvSpPr>
          <p:cNvPr id="17" name="TextBox 16">
            <a:extLst>
              <a:ext uri="{FF2B5EF4-FFF2-40B4-BE49-F238E27FC236}">
                <a16:creationId xmlns:a16="http://schemas.microsoft.com/office/drawing/2014/main" id="{495C56EE-F494-AAC7-E414-442B86B6B542}"/>
              </a:ext>
            </a:extLst>
          </p:cNvPr>
          <p:cNvSpPr txBox="1"/>
          <p:nvPr/>
        </p:nvSpPr>
        <p:spPr>
          <a:xfrm>
            <a:off x="8467723" y="4163834"/>
            <a:ext cx="3489112" cy="923330"/>
          </a:xfrm>
          <a:prstGeom prst="rect">
            <a:avLst/>
          </a:prstGeom>
          <a:noFill/>
        </p:spPr>
        <p:txBody>
          <a:bodyPr wrap="square">
            <a:spAutoFit/>
          </a:bodyPr>
          <a:lstStyle/>
          <a:p>
            <a:r>
              <a:rPr lang="en-US" dirty="0"/>
              <a:t>Manoalide demonstrated effective binding with Vibrio cholerae </a:t>
            </a:r>
            <a:r>
              <a:rPr lang="en-US" dirty="0" err="1"/>
              <a:t>varG</a:t>
            </a:r>
            <a:r>
              <a:rPr lang="en-US" dirty="0"/>
              <a:t> (Vina score: −9.5 kcal/mol)</a:t>
            </a:r>
            <a:endParaRPr lang="en-IN" dirty="0"/>
          </a:p>
        </p:txBody>
      </p:sp>
    </p:spTree>
    <p:extLst>
      <p:ext uri="{BB962C8B-B14F-4D97-AF65-F5344CB8AC3E}">
        <p14:creationId xmlns:p14="http://schemas.microsoft.com/office/powerpoint/2010/main" val="12062842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ED5CF8-BCA0-C761-6DB3-91F25ADC9339}"/>
              </a:ext>
            </a:extLst>
          </p:cNvPr>
          <p:cNvSpPr>
            <a:spLocks noGrp="1"/>
          </p:cNvSpPr>
          <p:nvPr>
            <p:ph idx="1"/>
          </p:nvPr>
        </p:nvSpPr>
        <p:spPr>
          <a:xfrm>
            <a:off x="157315" y="186813"/>
            <a:ext cx="11906865" cy="6538452"/>
          </a:xfrm>
        </p:spPr>
        <p:txBody>
          <a:bodyPr/>
          <a:lstStyle/>
          <a:p>
            <a:pPr marL="0" indent="0">
              <a:buNone/>
            </a:pPr>
            <a:r>
              <a:rPr lang="en-IN" sz="2000" dirty="0"/>
              <a:t>PBP3 (Haemophilus influenzae)</a:t>
            </a:r>
          </a:p>
          <a:p>
            <a:endParaRPr lang="en-IN" dirty="0"/>
          </a:p>
        </p:txBody>
      </p:sp>
      <p:pic>
        <p:nvPicPr>
          <p:cNvPr id="4" name="Picture 3">
            <a:extLst>
              <a:ext uri="{FF2B5EF4-FFF2-40B4-BE49-F238E27FC236}">
                <a16:creationId xmlns:a16="http://schemas.microsoft.com/office/drawing/2014/main" id="{DEC5A87F-8DD3-2B1D-5FF3-AA4725957F96}"/>
              </a:ext>
            </a:extLst>
          </p:cNvPr>
          <p:cNvPicPr>
            <a:picLocks noChangeAspect="1"/>
          </p:cNvPicPr>
          <p:nvPr/>
        </p:nvPicPr>
        <p:blipFill>
          <a:blip r:embed="rId2"/>
          <a:stretch>
            <a:fillRect/>
          </a:stretch>
        </p:blipFill>
        <p:spPr>
          <a:xfrm>
            <a:off x="679756" y="698007"/>
            <a:ext cx="3457749" cy="2281167"/>
          </a:xfrm>
          <a:prstGeom prst="rect">
            <a:avLst/>
          </a:prstGeom>
        </p:spPr>
      </p:pic>
      <p:pic>
        <p:nvPicPr>
          <p:cNvPr id="6" name="Picture 5">
            <a:extLst>
              <a:ext uri="{FF2B5EF4-FFF2-40B4-BE49-F238E27FC236}">
                <a16:creationId xmlns:a16="http://schemas.microsoft.com/office/drawing/2014/main" id="{98A1A1A6-4B68-2C35-810D-5ABB22B5F2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4946" y="698007"/>
            <a:ext cx="3373510" cy="2281168"/>
          </a:xfrm>
          <a:prstGeom prst="rect">
            <a:avLst/>
          </a:prstGeom>
        </p:spPr>
      </p:pic>
      <p:sp>
        <p:nvSpPr>
          <p:cNvPr id="9" name="TextBox 8">
            <a:extLst>
              <a:ext uri="{FF2B5EF4-FFF2-40B4-BE49-F238E27FC236}">
                <a16:creationId xmlns:a16="http://schemas.microsoft.com/office/drawing/2014/main" id="{44D2A172-4799-584A-D089-B980C1147688}"/>
              </a:ext>
            </a:extLst>
          </p:cNvPr>
          <p:cNvSpPr txBox="1"/>
          <p:nvPr/>
        </p:nvSpPr>
        <p:spPr>
          <a:xfrm>
            <a:off x="245807" y="3121036"/>
            <a:ext cx="6096000" cy="369332"/>
          </a:xfrm>
          <a:prstGeom prst="rect">
            <a:avLst/>
          </a:prstGeom>
          <a:noFill/>
        </p:spPr>
        <p:txBody>
          <a:bodyPr wrap="square">
            <a:spAutoFit/>
          </a:bodyPr>
          <a:lstStyle/>
          <a:p>
            <a:r>
              <a:rPr lang="en-IN" dirty="0"/>
              <a:t> cAMP Receptor Protein (CRP)</a:t>
            </a:r>
          </a:p>
        </p:txBody>
      </p:sp>
      <p:pic>
        <p:nvPicPr>
          <p:cNvPr id="10" name="Picture 9">
            <a:extLst>
              <a:ext uri="{FF2B5EF4-FFF2-40B4-BE49-F238E27FC236}">
                <a16:creationId xmlns:a16="http://schemas.microsoft.com/office/drawing/2014/main" id="{B0437A6E-FB41-902C-9577-0C244348C9FC}"/>
              </a:ext>
            </a:extLst>
          </p:cNvPr>
          <p:cNvPicPr>
            <a:picLocks noChangeAspect="1"/>
          </p:cNvPicPr>
          <p:nvPr/>
        </p:nvPicPr>
        <p:blipFill>
          <a:blip r:embed="rId4"/>
          <a:stretch>
            <a:fillRect/>
          </a:stretch>
        </p:blipFill>
        <p:spPr>
          <a:xfrm>
            <a:off x="679756" y="3656516"/>
            <a:ext cx="3457748" cy="2256881"/>
          </a:xfrm>
          <a:prstGeom prst="rect">
            <a:avLst/>
          </a:prstGeom>
        </p:spPr>
      </p:pic>
      <p:pic>
        <p:nvPicPr>
          <p:cNvPr id="12" name="Picture 11">
            <a:extLst>
              <a:ext uri="{FF2B5EF4-FFF2-40B4-BE49-F238E27FC236}">
                <a16:creationId xmlns:a16="http://schemas.microsoft.com/office/drawing/2014/main" id="{345FA5A0-A3A2-517C-758B-9A55A3B26B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59946" y="3684577"/>
            <a:ext cx="3208510" cy="2401047"/>
          </a:xfrm>
          <a:prstGeom prst="rect">
            <a:avLst/>
          </a:prstGeom>
        </p:spPr>
      </p:pic>
      <p:sp>
        <p:nvSpPr>
          <p:cNvPr id="14" name="TextBox 13">
            <a:extLst>
              <a:ext uri="{FF2B5EF4-FFF2-40B4-BE49-F238E27FC236}">
                <a16:creationId xmlns:a16="http://schemas.microsoft.com/office/drawing/2014/main" id="{85B66D72-513E-2E81-FF6F-7FD102125CF5}"/>
              </a:ext>
            </a:extLst>
          </p:cNvPr>
          <p:cNvSpPr txBox="1"/>
          <p:nvPr/>
        </p:nvSpPr>
        <p:spPr>
          <a:xfrm>
            <a:off x="4494946" y="134466"/>
            <a:ext cx="6096000" cy="461665"/>
          </a:xfrm>
          <a:prstGeom prst="rect">
            <a:avLst/>
          </a:prstGeom>
          <a:noFill/>
        </p:spPr>
        <p:txBody>
          <a:bodyPr wrap="square">
            <a:spAutoFit/>
          </a:bodyPr>
          <a:lstStyle/>
          <a:p>
            <a:r>
              <a:rPr lang="en-IN" sz="2400" dirty="0" err="1"/>
              <a:t>PyMOL</a:t>
            </a:r>
            <a:r>
              <a:rPr lang="en-IN" sz="2400" dirty="0"/>
              <a:t> visualization</a:t>
            </a:r>
          </a:p>
        </p:txBody>
      </p:sp>
      <p:sp>
        <p:nvSpPr>
          <p:cNvPr id="16" name="TextBox 15">
            <a:extLst>
              <a:ext uri="{FF2B5EF4-FFF2-40B4-BE49-F238E27FC236}">
                <a16:creationId xmlns:a16="http://schemas.microsoft.com/office/drawing/2014/main" id="{03BEC388-D632-8155-7207-7C8FBE9056D4}"/>
              </a:ext>
            </a:extLst>
          </p:cNvPr>
          <p:cNvSpPr txBox="1"/>
          <p:nvPr/>
        </p:nvSpPr>
        <p:spPr>
          <a:xfrm>
            <a:off x="8058194" y="1217024"/>
            <a:ext cx="3816248" cy="923330"/>
          </a:xfrm>
          <a:prstGeom prst="rect">
            <a:avLst/>
          </a:prstGeom>
          <a:noFill/>
        </p:spPr>
        <p:txBody>
          <a:bodyPr wrap="square">
            <a:spAutoFit/>
          </a:bodyPr>
          <a:lstStyle/>
          <a:p>
            <a:r>
              <a:rPr lang="en-US" dirty="0"/>
              <a:t>High binding affinity observed with PBP3 target protein (Vina score: −9.2 kcal/mol)</a:t>
            </a:r>
            <a:endParaRPr lang="en-IN" dirty="0"/>
          </a:p>
        </p:txBody>
      </p:sp>
      <p:sp>
        <p:nvSpPr>
          <p:cNvPr id="18" name="TextBox 17">
            <a:extLst>
              <a:ext uri="{FF2B5EF4-FFF2-40B4-BE49-F238E27FC236}">
                <a16:creationId xmlns:a16="http://schemas.microsoft.com/office/drawing/2014/main" id="{C0C9DE7E-A610-7DC0-EF1B-50A09AA54105}"/>
              </a:ext>
            </a:extLst>
          </p:cNvPr>
          <p:cNvSpPr txBox="1"/>
          <p:nvPr/>
        </p:nvSpPr>
        <p:spPr>
          <a:xfrm>
            <a:off x="8247932" y="4255982"/>
            <a:ext cx="3816248" cy="923330"/>
          </a:xfrm>
          <a:prstGeom prst="rect">
            <a:avLst/>
          </a:prstGeom>
          <a:noFill/>
        </p:spPr>
        <p:txBody>
          <a:bodyPr wrap="square">
            <a:spAutoFit/>
          </a:bodyPr>
          <a:lstStyle/>
          <a:p>
            <a:r>
              <a:rPr lang="en-US" dirty="0"/>
              <a:t>Manoalide showed strong binding affinity with 3 hydrogen bond with CRP protein (best Vina score: −9.1 kcal/mol</a:t>
            </a:r>
            <a:endParaRPr lang="en-IN" dirty="0"/>
          </a:p>
        </p:txBody>
      </p:sp>
    </p:spTree>
    <p:extLst>
      <p:ext uri="{BB962C8B-B14F-4D97-AF65-F5344CB8AC3E}">
        <p14:creationId xmlns:p14="http://schemas.microsoft.com/office/powerpoint/2010/main" val="2389135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534C37-0B5A-48AF-6FCD-FAEB21DC8549}"/>
              </a:ext>
            </a:extLst>
          </p:cNvPr>
          <p:cNvSpPr>
            <a:spLocks noGrp="1"/>
          </p:cNvSpPr>
          <p:nvPr>
            <p:ph idx="1"/>
          </p:nvPr>
        </p:nvSpPr>
        <p:spPr>
          <a:xfrm>
            <a:off x="186813" y="108155"/>
            <a:ext cx="11808542" cy="6548284"/>
          </a:xfrm>
        </p:spPr>
        <p:txBody>
          <a:bodyPr/>
          <a:lstStyle/>
          <a:p>
            <a:pPr marL="0" indent="0">
              <a:buNone/>
            </a:pPr>
            <a:r>
              <a:rPr lang="en-IN" sz="2400" dirty="0" err="1"/>
              <a:t>adeF</a:t>
            </a:r>
            <a:endParaRPr lang="en-IN" sz="2400" dirty="0"/>
          </a:p>
          <a:p>
            <a:endParaRPr lang="en-IN" dirty="0"/>
          </a:p>
        </p:txBody>
      </p:sp>
      <p:pic>
        <p:nvPicPr>
          <p:cNvPr id="4" name="Picture 3">
            <a:extLst>
              <a:ext uri="{FF2B5EF4-FFF2-40B4-BE49-F238E27FC236}">
                <a16:creationId xmlns:a16="http://schemas.microsoft.com/office/drawing/2014/main" id="{4AE49D18-3200-CCC8-1736-C040F159C30E}"/>
              </a:ext>
            </a:extLst>
          </p:cNvPr>
          <p:cNvPicPr>
            <a:picLocks noChangeAspect="1"/>
          </p:cNvPicPr>
          <p:nvPr/>
        </p:nvPicPr>
        <p:blipFill>
          <a:blip r:embed="rId2"/>
          <a:stretch>
            <a:fillRect/>
          </a:stretch>
        </p:blipFill>
        <p:spPr>
          <a:xfrm>
            <a:off x="495986" y="680674"/>
            <a:ext cx="3871994" cy="2604633"/>
          </a:xfrm>
          <a:prstGeom prst="rect">
            <a:avLst/>
          </a:prstGeom>
        </p:spPr>
      </p:pic>
      <p:pic>
        <p:nvPicPr>
          <p:cNvPr id="6" name="Picture 5">
            <a:extLst>
              <a:ext uri="{FF2B5EF4-FFF2-40B4-BE49-F238E27FC236}">
                <a16:creationId xmlns:a16="http://schemas.microsoft.com/office/drawing/2014/main" id="{5285D1DF-B1DF-DB37-2325-6DE267BDA6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62855" y="680674"/>
            <a:ext cx="3697471" cy="2375470"/>
          </a:xfrm>
          <a:prstGeom prst="rect">
            <a:avLst/>
          </a:prstGeom>
        </p:spPr>
      </p:pic>
      <p:sp>
        <p:nvSpPr>
          <p:cNvPr id="8" name="TextBox 7">
            <a:extLst>
              <a:ext uri="{FF2B5EF4-FFF2-40B4-BE49-F238E27FC236}">
                <a16:creationId xmlns:a16="http://schemas.microsoft.com/office/drawing/2014/main" id="{6E41F136-8E87-E13E-1B29-042138F8E5B0}"/>
              </a:ext>
            </a:extLst>
          </p:cNvPr>
          <p:cNvSpPr txBox="1"/>
          <p:nvPr/>
        </p:nvSpPr>
        <p:spPr>
          <a:xfrm>
            <a:off x="4562855" y="108155"/>
            <a:ext cx="6096000" cy="461665"/>
          </a:xfrm>
          <a:prstGeom prst="rect">
            <a:avLst/>
          </a:prstGeom>
          <a:noFill/>
        </p:spPr>
        <p:txBody>
          <a:bodyPr wrap="square">
            <a:spAutoFit/>
          </a:bodyPr>
          <a:lstStyle/>
          <a:p>
            <a:r>
              <a:rPr lang="en-IN" sz="2400" dirty="0" err="1"/>
              <a:t>PyMOL</a:t>
            </a:r>
            <a:r>
              <a:rPr lang="en-IN" sz="2400" dirty="0"/>
              <a:t> visualization</a:t>
            </a:r>
          </a:p>
        </p:txBody>
      </p:sp>
      <p:sp>
        <p:nvSpPr>
          <p:cNvPr id="10" name="TextBox 9">
            <a:extLst>
              <a:ext uri="{FF2B5EF4-FFF2-40B4-BE49-F238E27FC236}">
                <a16:creationId xmlns:a16="http://schemas.microsoft.com/office/drawing/2014/main" id="{772110D2-E627-3267-AA1B-3D11E057DFAC}"/>
              </a:ext>
            </a:extLst>
          </p:cNvPr>
          <p:cNvSpPr txBox="1"/>
          <p:nvPr/>
        </p:nvSpPr>
        <p:spPr>
          <a:xfrm>
            <a:off x="8407195" y="1240164"/>
            <a:ext cx="3441290" cy="923330"/>
          </a:xfrm>
          <a:prstGeom prst="rect">
            <a:avLst/>
          </a:prstGeom>
          <a:noFill/>
        </p:spPr>
        <p:txBody>
          <a:bodyPr wrap="square">
            <a:spAutoFit/>
          </a:bodyPr>
          <a:lstStyle/>
          <a:p>
            <a:r>
              <a:rPr lang="en-US" dirty="0"/>
              <a:t>Docking results indicate stable interaction with moderate binding energy (−7.6 kcal/mol</a:t>
            </a:r>
            <a:endParaRPr lang="en-IN" dirty="0"/>
          </a:p>
        </p:txBody>
      </p:sp>
      <p:sp>
        <p:nvSpPr>
          <p:cNvPr id="12" name="TextBox 11">
            <a:extLst>
              <a:ext uri="{FF2B5EF4-FFF2-40B4-BE49-F238E27FC236}">
                <a16:creationId xmlns:a16="http://schemas.microsoft.com/office/drawing/2014/main" id="{A6028CDE-5F60-F8E1-D0C9-FFC6F5D1CBDC}"/>
              </a:ext>
            </a:extLst>
          </p:cNvPr>
          <p:cNvSpPr txBox="1"/>
          <p:nvPr/>
        </p:nvSpPr>
        <p:spPr>
          <a:xfrm>
            <a:off x="712296" y="4232209"/>
            <a:ext cx="11283059" cy="1477328"/>
          </a:xfrm>
          <a:prstGeom prst="rect">
            <a:avLst/>
          </a:prstGeom>
          <a:noFill/>
        </p:spPr>
        <p:txBody>
          <a:bodyPr wrap="square">
            <a:spAutoFit/>
          </a:bodyPr>
          <a:lstStyle/>
          <a:p>
            <a:r>
              <a:rPr lang="en-US" dirty="0"/>
              <a:t>Strong binding affinity was observed with a docking score of −9.1 kcal/mol, indicating favorable interaction between the ligand and the target protein. A stable docking interaction was further confirmed with a binding energy of −7.6 kcal/mol, suggesting consistent ligand accommodation within the binding pocket. Notably, the highest binding affinity was recorded with the </a:t>
            </a:r>
            <a:r>
              <a:rPr lang="en-US" dirty="0" err="1"/>
              <a:t>parE</a:t>
            </a:r>
            <a:r>
              <a:rPr lang="en-US" dirty="0"/>
              <a:t> protein, showing a Vina score of −11.2 kcal/mol, highlighting it as the most promising target for inhibition.</a:t>
            </a:r>
            <a:endParaRPr lang="en-IN" dirty="0"/>
          </a:p>
        </p:txBody>
      </p:sp>
    </p:spTree>
    <p:extLst>
      <p:ext uri="{BB962C8B-B14F-4D97-AF65-F5344CB8AC3E}">
        <p14:creationId xmlns:p14="http://schemas.microsoft.com/office/powerpoint/2010/main" val="39450151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96E8A-7E97-A387-F250-038212943855}"/>
              </a:ext>
            </a:extLst>
          </p:cNvPr>
          <p:cNvSpPr>
            <a:spLocks noGrp="1"/>
          </p:cNvSpPr>
          <p:nvPr>
            <p:ph type="title"/>
          </p:nvPr>
        </p:nvSpPr>
        <p:spPr>
          <a:xfrm>
            <a:off x="838200" y="187896"/>
            <a:ext cx="10577052" cy="474072"/>
          </a:xfrm>
        </p:spPr>
        <p:txBody>
          <a:bodyPr>
            <a:noAutofit/>
          </a:bodyPr>
          <a:lstStyle/>
          <a:p>
            <a:pPr algn="ctr"/>
            <a:r>
              <a:rPr lang="en-US" sz="2400" b="1" dirty="0">
                <a:latin typeface="Arial" panose="020B0604020202020204" pitchFamily="34" charset="0"/>
                <a:cs typeface="Arial" panose="020B0604020202020204" pitchFamily="34" charset="0"/>
              </a:rPr>
              <a:t>Manoalide in </a:t>
            </a:r>
            <a:r>
              <a:rPr lang="en-IN" sz="2400" b="1" dirty="0" err="1">
                <a:latin typeface="Arial" panose="020B0604020202020204" pitchFamily="34" charset="0"/>
                <a:cs typeface="Arial" panose="020B0604020202020204" pitchFamily="34" charset="0"/>
              </a:rPr>
              <a:t>SwissADME</a:t>
            </a:r>
            <a:endParaRPr lang="en-IN" sz="2400" b="1" dirty="0">
              <a:latin typeface="Arial" panose="020B0604020202020204" pitchFamily="34" charset="0"/>
              <a:cs typeface="Arial" panose="020B0604020202020204" pitchFamily="34" charset="0"/>
            </a:endParaRPr>
          </a:p>
        </p:txBody>
      </p:sp>
      <p:pic>
        <p:nvPicPr>
          <p:cNvPr id="5" name="Content Placeholder 4">
            <a:extLst>
              <a:ext uri="{FF2B5EF4-FFF2-40B4-BE49-F238E27FC236}">
                <a16:creationId xmlns:a16="http://schemas.microsoft.com/office/drawing/2014/main" id="{D3248A8D-1C8C-F255-84AB-9D1BEF1D412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5980" y="681038"/>
            <a:ext cx="7330268" cy="5414962"/>
          </a:xfrm>
          <a:prstGeom prst="rect">
            <a:avLst/>
          </a:prstGeom>
        </p:spPr>
      </p:pic>
      <p:sp>
        <p:nvSpPr>
          <p:cNvPr id="6" name="Rectangle 1">
            <a:extLst>
              <a:ext uri="{FF2B5EF4-FFF2-40B4-BE49-F238E27FC236}">
                <a16:creationId xmlns:a16="http://schemas.microsoft.com/office/drawing/2014/main" id="{2AF19A9B-1C5C-7BEB-78C4-A8D094A1B607}"/>
              </a:ext>
            </a:extLst>
          </p:cNvPr>
          <p:cNvSpPr>
            <a:spLocks noChangeArrowheads="1"/>
          </p:cNvSpPr>
          <p:nvPr/>
        </p:nvSpPr>
        <p:spPr bwMode="auto">
          <a:xfrm>
            <a:off x="7912389" y="3333710"/>
            <a:ext cx="410262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Molecular Weight: </a:t>
            </a:r>
            <a:r>
              <a:rPr kumimoji="0" lang="en-US" altLang="en-US" sz="1800" b="1" i="0" u="none" strike="noStrike" cap="none" normalizeH="0" baseline="0" dirty="0">
                <a:ln>
                  <a:noFill/>
                </a:ln>
                <a:solidFill>
                  <a:schemeClr val="tx1"/>
                </a:solidFill>
                <a:effectLst/>
                <a:latin typeface="Arial" panose="020B0604020202020204" pitchFamily="34" charset="0"/>
              </a:rPr>
              <a:t>416.55 g/mol</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LogP</a:t>
            </a:r>
            <a:r>
              <a:rPr kumimoji="0" lang="en-US" altLang="en-US" sz="1800" b="0" i="0" u="none" strike="noStrike" cap="none" normalizeH="0" baseline="0" dirty="0">
                <a:ln>
                  <a:noFill/>
                </a:ln>
                <a:solidFill>
                  <a:schemeClr val="tx1"/>
                </a:solidFill>
                <a:effectLst/>
                <a:latin typeface="Arial" panose="020B0604020202020204" pitchFamily="34" charset="0"/>
              </a:rPr>
              <a:t> (Lipophilicity): </a:t>
            </a:r>
            <a:r>
              <a:rPr kumimoji="0" lang="en-US" altLang="en-US" sz="1800" b="1" i="0" u="none" strike="noStrike" cap="none" normalizeH="0" baseline="0" dirty="0">
                <a:ln>
                  <a:noFill/>
                </a:ln>
                <a:solidFill>
                  <a:schemeClr val="tx1"/>
                </a:solidFill>
                <a:effectLst/>
                <a:latin typeface="Arial" panose="020B0604020202020204" pitchFamily="34" charset="0"/>
              </a:rPr>
              <a:t>4.07</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Hydrogen Bond Donors: </a:t>
            </a:r>
            <a:r>
              <a:rPr kumimoji="0" lang="en-US" altLang="en-US" sz="1800" b="1" i="0" u="none" strike="noStrike" cap="none" normalizeH="0" baseline="0" dirty="0">
                <a:ln>
                  <a:noFill/>
                </a:ln>
                <a:solidFill>
                  <a:schemeClr val="tx1"/>
                </a:solidFill>
                <a:effectLst/>
                <a:latin typeface="Arial" panose="020B0604020202020204" pitchFamily="34" charset="0"/>
              </a:rPr>
              <a:t>1</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Hydrogen Bond Acceptors: </a:t>
            </a:r>
            <a:r>
              <a:rPr kumimoji="0" lang="en-US" altLang="en-US" sz="1800" b="1" i="0" u="none" strike="noStrike" cap="none" normalizeH="0" baseline="0" dirty="0">
                <a:ln>
                  <a:noFill/>
                </a:ln>
                <a:solidFill>
                  <a:schemeClr val="tx1"/>
                </a:solidFill>
                <a:effectLst/>
                <a:latin typeface="Arial" panose="020B0604020202020204" pitchFamily="34" charset="0"/>
              </a:rPr>
              <a:t>4</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Topological Polar Surface Area (TPSA): </a:t>
            </a:r>
            <a:r>
              <a:rPr kumimoji="0" lang="en-US" altLang="en-US" sz="1800" b="1" i="0" u="none" strike="noStrike" cap="none" normalizeH="0" baseline="0" dirty="0">
                <a:ln>
                  <a:noFill/>
                </a:ln>
                <a:solidFill>
                  <a:schemeClr val="tx1"/>
                </a:solidFill>
                <a:effectLst/>
                <a:latin typeface="Arial" panose="020B0604020202020204" pitchFamily="34" charset="0"/>
              </a:rPr>
              <a:t>~63 Å²</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Lipinski Rule of Five: </a:t>
            </a:r>
            <a:r>
              <a:rPr kumimoji="0" lang="en-US" altLang="en-US" sz="1800" b="1" i="0" u="none" strike="noStrike" cap="none" normalizeH="0" baseline="0" dirty="0">
                <a:ln>
                  <a:noFill/>
                </a:ln>
                <a:solidFill>
                  <a:schemeClr val="tx1"/>
                </a:solidFill>
                <a:effectLst/>
                <a:latin typeface="Arial" panose="020B0604020202020204" pitchFamily="34" charset="0"/>
              </a:rPr>
              <a:t>No violations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Gastrointestinal (GI) Absorption: </a:t>
            </a:r>
            <a:r>
              <a:rPr kumimoji="0" lang="en-US" altLang="en-US" sz="1800" b="1" i="0" u="none" strike="noStrike" cap="none" normalizeH="0" baseline="0" dirty="0">
                <a:ln>
                  <a:noFill/>
                </a:ln>
                <a:solidFill>
                  <a:schemeClr val="tx1"/>
                </a:solidFill>
                <a:effectLst/>
                <a:latin typeface="Arial" panose="020B0604020202020204" pitchFamily="34" charset="0"/>
              </a:rPr>
              <a:t>High</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Bioavailability Score: </a:t>
            </a:r>
            <a:r>
              <a:rPr kumimoji="0" lang="en-US" altLang="en-US" sz="1800" b="1" i="0" u="none" strike="noStrike" cap="none" normalizeH="0" baseline="0" dirty="0">
                <a:ln>
                  <a:noFill/>
                </a:ln>
                <a:solidFill>
                  <a:schemeClr val="tx1"/>
                </a:solidFill>
                <a:effectLst/>
                <a:latin typeface="Arial" panose="020B0604020202020204" pitchFamily="34" charset="0"/>
              </a:rPr>
              <a:t>0.55</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8" name="TextBox 7">
            <a:extLst>
              <a:ext uri="{FF2B5EF4-FFF2-40B4-BE49-F238E27FC236}">
                <a16:creationId xmlns:a16="http://schemas.microsoft.com/office/drawing/2014/main" id="{F3A03BE9-0F87-C920-9F86-9448412CC717}"/>
              </a:ext>
            </a:extLst>
          </p:cNvPr>
          <p:cNvSpPr txBox="1"/>
          <p:nvPr/>
        </p:nvSpPr>
        <p:spPr>
          <a:xfrm>
            <a:off x="7912389" y="757029"/>
            <a:ext cx="4102629" cy="1754326"/>
          </a:xfrm>
          <a:prstGeom prst="rect">
            <a:avLst/>
          </a:prstGeom>
          <a:noFill/>
        </p:spPr>
        <p:txBody>
          <a:bodyPr wrap="square">
            <a:spAutoFit/>
          </a:bodyPr>
          <a:lstStyle/>
          <a:p>
            <a:pPr>
              <a:buNone/>
            </a:pPr>
            <a:r>
              <a:rPr lang="en-IN" b="1" dirty="0"/>
              <a:t>Lipinski Rule of Five</a:t>
            </a:r>
          </a:p>
          <a:p>
            <a:pPr>
              <a:buFont typeface="Arial" panose="020B0604020202020204" pitchFamily="34" charset="0"/>
              <a:buChar char="•"/>
            </a:pPr>
            <a:r>
              <a:rPr lang="en-IN" dirty="0"/>
              <a:t>Molecular Weight ≤ </a:t>
            </a:r>
            <a:r>
              <a:rPr lang="en-IN" b="1" dirty="0"/>
              <a:t>500 g/mol</a:t>
            </a:r>
            <a:r>
              <a:rPr lang="en-IN" dirty="0"/>
              <a:t> </a:t>
            </a:r>
          </a:p>
          <a:p>
            <a:pPr>
              <a:buFont typeface="Arial" panose="020B0604020202020204" pitchFamily="34" charset="0"/>
              <a:buChar char="•"/>
            </a:pPr>
            <a:r>
              <a:rPr lang="en-IN" dirty="0" err="1"/>
              <a:t>LogP</a:t>
            </a:r>
            <a:r>
              <a:rPr lang="en-IN" dirty="0"/>
              <a:t> ≤ </a:t>
            </a:r>
            <a:r>
              <a:rPr lang="en-IN" b="1" dirty="0"/>
              <a:t>5</a:t>
            </a:r>
            <a:r>
              <a:rPr lang="en-IN" dirty="0"/>
              <a:t> </a:t>
            </a:r>
          </a:p>
          <a:p>
            <a:pPr>
              <a:buFont typeface="Arial" panose="020B0604020202020204" pitchFamily="34" charset="0"/>
              <a:buChar char="•"/>
            </a:pPr>
            <a:r>
              <a:rPr lang="en-IN" dirty="0"/>
              <a:t>Hydrogen Bond Donors ≤ </a:t>
            </a:r>
            <a:r>
              <a:rPr lang="en-IN" b="1" dirty="0"/>
              <a:t>5</a:t>
            </a:r>
            <a:r>
              <a:rPr lang="en-IN" dirty="0"/>
              <a:t> </a:t>
            </a:r>
          </a:p>
          <a:p>
            <a:pPr>
              <a:buFont typeface="Arial" panose="020B0604020202020204" pitchFamily="34" charset="0"/>
              <a:buChar char="•"/>
            </a:pPr>
            <a:r>
              <a:rPr lang="en-IN" dirty="0"/>
              <a:t>Hydrogen Bond Acceptors ≤ </a:t>
            </a:r>
            <a:r>
              <a:rPr lang="en-IN" b="1" dirty="0"/>
              <a:t>10</a:t>
            </a:r>
            <a:r>
              <a:rPr lang="en-IN" dirty="0"/>
              <a:t> </a:t>
            </a:r>
          </a:p>
          <a:p>
            <a:pPr>
              <a:buFont typeface="Arial" panose="020B0604020202020204" pitchFamily="34" charset="0"/>
              <a:buChar char="•"/>
            </a:pPr>
            <a:r>
              <a:rPr lang="en-IN" dirty="0"/>
              <a:t>Violations: </a:t>
            </a:r>
            <a:r>
              <a:rPr lang="en-IN" b="1" dirty="0"/>
              <a:t>0 (Passed)</a:t>
            </a:r>
            <a:endParaRPr lang="en-IN" dirty="0"/>
          </a:p>
        </p:txBody>
      </p:sp>
    </p:spTree>
    <p:extLst>
      <p:ext uri="{BB962C8B-B14F-4D97-AF65-F5344CB8AC3E}">
        <p14:creationId xmlns:p14="http://schemas.microsoft.com/office/powerpoint/2010/main" val="3034136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EF049-B721-6CE9-3B34-322D2F66F2AE}"/>
              </a:ext>
            </a:extLst>
          </p:cNvPr>
          <p:cNvSpPr>
            <a:spLocks noGrp="1"/>
          </p:cNvSpPr>
          <p:nvPr>
            <p:ph type="title"/>
          </p:nvPr>
        </p:nvSpPr>
        <p:spPr>
          <a:xfrm>
            <a:off x="838200" y="-214978"/>
            <a:ext cx="10515600" cy="1325563"/>
          </a:xfrm>
        </p:spPr>
        <p:txBody>
          <a:bodyPr/>
          <a:lstStyle/>
          <a:p>
            <a:pPr algn="ctr"/>
            <a:r>
              <a:rPr lang="en-IN" b="1" dirty="0"/>
              <a:t>Discussion and conclusion</a:t>
            </a:r>
          </a:p>
        </p:txBody>
      </p:sp>
      <p:sp>
        <p:nvSpPr>
          <p:cNvPr id="3" name="Content Placeholder 2">
            <a:extLst>
              <a:ext uri="{FF2B5EF4-FFF2-40B4-BE49-F238E27FC236}">
                <a16:creationId xmlns:a16="http://schemas.microsoft.com/office/drawing/2014/main" id="{1E523D87-8232-9036-9F71-8C6972CD01D6}"/>
              </a:ext>
            </a:extLst>
          </p:cNvPr>
          <p:cNvSpPr>
            <a:spLocks noGrp="1"/>
          </p:cNvSpPr>
          <p:nvPr>
            <p:ph idx="1"/>
          </p:nvPr>
        </p:nvSpPr>
        <p:spPr>
          <a:xfrm>
            <a:off x="838200" y="983226"/>
            <a:ext cx="10515600" cy="5193737"/>
          </a:xfrm>
        </p:spPr>
        <p:txBody>
          <a:bodyPr>
            <a:normAutofit lnSpcReduction="10000"/>
          </a:bodyPr>
          <a:lstStyle/>
          <a:p>
            <a:r>
              <a:rPr lang="en-US" b="1" dirty="0"/>
              <a:t>Discussion</a:t>
            </a:r>
          </a:p>
          <a:p>
            <a:pPr marL="0" indent="0">
              <a:buNone/>
            </a:pPr>
            <a:r>
              <a:rPr lang="en-US" dirty="0"/>
              <a:t>                 The identification of five AMR genes confirms the multidrug-resistant nature of </a:t>
            </a:r>
            <a:r>
              <a:rPr lang="en-US" i="1" dirty="0"/>
              <a:t>Vibrio vulnificus</a:t>
            </a:r>
            <a:r>
              <a:rPr lang="en-US" dirty="0"/>
              <a:t>. Molecular docking results demonstrated that Manoalide exhibits strong binding affinity toward these resistance proteins, particularly with the </a:t>
            </a:r>
            <a:r>
              <a:rPr lang="en-US" dirty="0" err="1"/>
              <a:t>parE</a:t>
            </a:r>
            <a:r>
              <a:rPr lang="en-US" dirty="0"/>
              <a:t> target. Interaction analysis further indicated stable binding within the active sites, while </a:t>
            </a:r>
            <a:r>
              <a:rPr lang="en-US" dirty="0" err="1"/>
              <a:t>SwissADME</a:t>
            </a:r>
            <a:r>
              <a:rPr lang="en-US" dirty="0"/>
              <a:t> results supported its favorable drug-like properties.</a:t>
            </a:r>
          </a:p>
          <a:p>
            <a:r>
              <a:rPr lang="en-US" b="1" dirty="0"/>
              <a:t>Conclusion</a:t>
            </a:r>
          </a:p>
          <a:p>
            <a:pPr marL="0" indent="0">
              <a:buNone/>
            </a:pPr>
            <a:r>
              <a:rPr lang="en-US" b="1" dirty="0"/>
              <a:t>                   </a:t>
            </a:r>
            <a:r>
              <a:rPr lang="en-US" dirty="0"/>
              <a:t>Manoalide shows strong potential as an inhibitor of AMR proteins, with high binding affinity and good pharmacokinetic properties. This study highlights the importance of marine natural products as promising candidates for developing new antimicrobial agents.</a:t>
            </a:r>
          </a:p>
          <a:p>
            <a:pPr marL="0" indent="0">
              <a:buNone/>
            </a:pPr>
            <a:endParaRPr lang="en-US" dirty="0"/>
          </a:p>
          <a:p>
            <a:endParaRPr lang="en-IN" dirty="0"/>
          </a:p>
        </p:txBody>
      </p:sp>
    </p:spTree>
    <p:extLst>
      <p:ext uri="{BB962C8B-B14F-4D97-AF65-F5344CB8AC3E}">
        <p14:creationId xmlns:p14="http://schemas.microsoft.com/office/powerpoint/2010/main" val="2975784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99758-4EA2-0DBE-B56C-068F5C41F3E8}"/>
              </a:ext>
            </a:extLst>
          </p:cNvPr>
          <p:cNvSpPr>
            <a:spLocks noGrp="1"/>
          </p:cNvSpPr>
          <p:nvPr>
            <p:ph type="title"/>
          </p:nvPr>
        </p:nvSpPr>
        <p:spPr>
          <a:xfrm>
            <a:off x="838200" y="-244475"/>
            <a:ext cx="10515600" cy="1325563"/>
          </a:xfrm>
        </p:spPr>
        <p:txBody>
          <a:bodyPr/>
          <a:lstStyle/>
          <a:p>
            <a:pPr algn="ctr"/>
            <a:r>
              <a:rPr lang="en-IN" b="1" dirty="0"/>
              <a:t>Reference</a:t>
            </a:r>
          </a:p>
        </p:txBody>
      </p:sp>
      <p:sp>
        <p:nvSpPr>
          <p:cNvPr id="3" name="Content Placeholder 2">
            <a:extLst>
              <a:ext uri="{FF2B5EF4-FFF2-40B4-BE49-F238E27FC236}">
                <a16:creationId xmlns:a16="http://schemas.microsoft.com/office/drawing/2014/main" id="{43934593-7508-5C51-8617-684A39ADC7B5}"/>
              </a:ext>
            </a:extLst>
          </p:cNvPr>
          <p:cNvSpPr>
            <a:spLocks noGrp="1"/>
          </p:cNvSpPr>
          <p:nvPr>
            <p:ph idx="1"/>
          </p:nvPr>
        </p:nvSpPr>
        <p:spPr>
          <a:xfrm>
            <a:off x="501445" y="737419"/>
            <a:ext cx="10852355" cy="5439544"/>
          </a:xfrm>
        </p:spPr>
        <p:txBody>
          <a:bodyPr>
            <a:normAutofit fontScale="70000" lnSpcReduction="20000"/>
          </a:bodyPr>
          <a:lstStyle/>
          <a:p>
            <a:r>
              <a:rPr lang="en-IN" dirty="0"/>
              <a:t>[1] Oliver, J.D. (2010). </a:t>
            </a:r>
            <a:r>
              <a:rPr lang="en-IN" i="1" dirty="0"/>
              <a:t>Wound infections caused by Vibrio vulnificus and other marine bacteria</a:t>
            </a:r>
            <a:r>
              <a:rPr lang="en-IN" dirty="0"/>
              <a:t>. International Journal of Infectious Diseases. </a:t>
            </a:r>
            <a:r>
              <a:rPr lang="en-IN" dirty="0">
                <a:hlinkClick r:id="rId2"/>
              </a:rPr>
              <a:t>https://doi.org/10.1016/j.ijid.2010.11.003</a:t>
            </a:r>
            <a:endParaRPr lang="en-IN" dirty="0"/>
          </a:p>
          <a:p>
            <a:r>
              <a:rPr lang="en-IN" dirty="0"/>
              <a:t>[2] Litwin, C.M., &amp; Calderwood, S.B. (2003). </a:t>
            </a:r>
            <a:r>
              <a:rPr lang="en-IN" i="1" dirty="0"/>
              <a:t>Role of iron in regulation of virulence genes in Vibrio vulnificus</a:t>
            </a:r>
            <a:r>
              <a:rPr lang="en-IN" dirty="0"/>
              <a:t>. Infection and Immunity. </a:t>
            </a:r>
            <a:r>
              <a:rPr lang="en-IN" dirty="0">
                <a:hlinkClick r:id="rId3"/>
              </a:rPr>
              <a:t>https://doi.org/10.1128/IAI.71.10.5461-5471.2003</a:t>
            </a:r>
            <a:endParaRPr lang="en-IN" dirty="0"/>
          </a:p>
          <a:p>
            <a:r>
              <a:rPr lang="en-IN" dirty="0"/>
              <a:t>[3] Thompson, F.L. et al. (2004). </a:t>
            </a:r>
            <a:r>
              <a:rPr lang="en-IN" i="1" dirty="0"/>
              <a:t>Genomics and evolution of Vibrio species</a:t>
            </a:r>
            <a:r>
              <a:rPr lang="en-IN" dirty="0"/>
              <a:t>. FEMS Microbiology Reviews. </a:t>
            </a:r>
            <a:r>
              <a:rPr lang="en-IN" dirty="0">
                <a:hlinkClick r:id="rId4"/>
              </a:rPr>
              <a:t>https://doi.org/10.1016/S0168-6445(03)00064-0</a:t>
            </a:r>
            <a:endParaRPr lang="en-IN" dirty="0"/>
          </a:p>
          <a:p>
            <a:r>
              <a:rPr lang="en-IN" dirty="0"/>
              <a:t>[4] Kumar, R. et al. (2025). </a:t>
            </a:r>
            <a:r>
              <a:rPr lang="en-IN" i="1" dirty="0"/>
              <a:t>Antimicrobial resistance in marine ecosystems</a:t>
            </a:r>
            <a:r>
              <a:rPr lang="en-IN" dirty="0"/>
              <a:t>. </a:t>
            </a:r>
            <a:r>
              <a:rPr lang="en-IN" dirty="0">
                <a:hlinkClick r:id="rId5"/>
              </a:rPr>
              <a:t>https://doi.org/10.1007/s44351-025-00023-9</a:t>
            </a:r>
            <a:endParaRPr lang="en-IN" dirty="0"/>
          </a:p>
          <a:p>
            <a:r>
              <a:rPr lang="en-IN" dirty="0"/>
              <a:t>[5] Sharma, A. et al. (2022). </a:t>
            </a:r>
            <a:r>
              <a:rPr lang="en-IN" i="1" dirty="0"/>
              <a:t>Marine microbiology and AMR mechanisms</a:t>
            </a:r>
            <a:r>
              <a:rPr lang="en-IN" dirty="0"/>
              <a:t>. </a:t>
            </a:r>
            <a:r>
              <a:rPr lang="en-IN" dirty="0">
                <a:hlinkClick r:id="rId6"/>
              </a:rPr>
              <a:t>https://doi.org/10.1007/978-981-16-9723-4_6-1</a:t>
            </a:r>
            <a:endParaRPr lang="en-IN" dirty="0"/>
          </a:p>
          <a:p>
            <a:r>
              <a:rPr lang="en-IN" dirty="0"/>
              <a:t>[6] Das, S. et al. (2025). </a:t>
            </a:r>
            <a:r>
              <a:rPr lang="en-IN" i="1" dirty="0"/>
              <a:t>Environmental impacts on antimicrobial resistance</a:t>
            </a:r>
            <a:r>
              <a:rPr lang="en-IN" dirty="0"/>
              <a:t>. </a:t>
            </a:r>
            <a:r>
              <a:rPr lang="en-IN" dirty="0">
                <a:hlinkClick r:id="rId7"/>
              </a:rPr>
              <a:t>https://doi.org/10.9734/ijecc/2025/v15i125152</a:t>
            </a:r>
            <a:endParaRPr lang="en-IN" dirty="0"/>
          </a:p>
          <a:p>
            <a:r>
              <a:rPr lang="en-IN" dirty="0"/>
              <a:t>[7] Li, X. et al. (2025). </a:t>
            </a:r>
            <a:r>
              <a:rPr lang="en-IN" i="1" dirty="0"/>
              <a:t>Environmental pollution and AMR spread</a:t>
            </a:r>
            <a:r>
              <a:rPr lang="en-IN" dirty="0"/>
              <a:t>. Environmental Pollution. </a:t>
            </a:r>
            <a:r>
              <a:rPr lang="en-IN" dirty="0">
                <a:hlinkClick r:id="rId8"/>
              </a:rPr>
              <a:t>https://doi.org/10.1016/j.envpol.2025.126793</a:t>
            </a:r>
            <a:endParaRPr lang="en-IN" dirty="0"/>
          </a:p>
          <a:p>
            <a:endParaRPr lang="en-IN" dirty="0"/>
          </a:p>
          <a:p>
            <a:r>
              <a:rPr lang="en-IN" dirty="0"/>
              <a:t>[8] Hyatt, D. et al. (2010). </a:t>
            </a:r>
            <a:r>
              <a:rPr lang="en-IN" i="1" dirty="0"/>
              <a:t>Prodigal: prokaryotic gene recognition tool</a:t>
            </a:r>
            <a:r>
              <a:rPr lang="en-IN" dirty="0"/>
              <a:t>. BMC Bioinformatics. </a:t>
            </a:r>
            <a:r>
              <a:rPr lang="en-IN" dirty="0">
                <a:hlinkClick r:id="rId9"/>
              </a:rPr>
              <a:t>https://doi.org/10.1186/1471-2105-11-119</a:t>
            </a:r>
            <a:endParaRPr lang="en-IN" dirty="0"/>
          </a:p>
          <a:p>
            <a:r>
              <a:rPr lang="en-IN" dirty="0"/>
              <a:t>[9] Alcock, B.P. et al. (2022). </a:t>
            </a:r>
            <a:r>
              <a:rPr lang="en-IN" i="1" dirty="0"/>
              <a:t>CARD database updates and AMR analysis</a:t>
            </a:r>
            <a:r>
              <a:rPr lang="en-IN" dirty="0"/>
              <a:t>. Scientific Reports. </a:t>
            </a:r>
            <a:r>
              <a:rPr lang="en-IN" dirty="0">
                <a:hlinkClick r:id="rId10"/>
              </a:rPr>
              <a:t>https://doi.org/10.1038/s41598-022-25026-3</a:t>
            </a:r>
            <a:endParaRPr lang="en-IN" dirty="0"/>
          </a:p>
          <a:p>
            <a:endParaRPr lang="en-IN" dirty="0"/>
          </a:p>
        </p:txBody>
      </p:sp>
    </p:spTree>
    <p:extLst>
      <p:ext uri="{BB962C8B-B14F-4D97-AF65-F5344CB8AC3E}">
        <p14:creationId xmlns:p14="http://schemas.microsoft.com/office/powerpoint/2010/main" val="37211515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1239</Words>
  <Application>Microsoft Office PowerPoint</Application>
  <PresentationFormat>Widescreen</PresentationFormat>
  <Paragraphs>65</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Marine Natural Products vs. Superbugs: A Molecular Docking Study</vt:lpstr>
      <vt:lpstr>Background Of Project </vt:lpstr>
      <vt:lpstr>Study Rationale</vt:lpstr>
      <vt:lpstr>Workflow</vt:lpstr>
      <vt:lpstr>Methodology</vt:lpstr>
      <vt:lpstr>Results </vt:lpstr>
      <vt:lpstr>CB-dock2 tool result and Pymol visualization</vt:lpstr>
      <vt:lpstr>PowerPoint Presentation</vt:lpstr>
      <vt:lpstr>PowerPoint Presentation</vt:lpstr>
      <vt:lpstr>Manoalide in SwissADME</vt:lpstr>
      <vt:lpstr>Discussion and conclusion</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Jeeva -Alan</dc:creator>
  <cp:lastModifiedBy>Jeeva -Alan</cp:lastModifiedBy>
  <cp:revision>5</cp:revision>
  <dcterms:created xsi:type="dcterms:W3CDTF">2026-04-06T07:31:08Z</dcterms:created>
  <dcterms:modified xsi:type="dcterms:W3CDTF">2026-04-21T14:47:30Z</dcterms:modified>
</cp:coreProperties>
</file>